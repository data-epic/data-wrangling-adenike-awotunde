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6" r:id="rId1"/>
  </p:sldMasterIdLst>
  <p:notesMasterIdLst>
    <p:notesMasterId r:id="rId9"/>
  </p:notesMasterIdLst>
  <p:sldIdLst>
    <p:sldId id="256" r:id="rId2"/>
    <p:sldId id="257" r:id="rId3"/>
    <p:sldId id="258" r:id="rId4"/>
    <p:sldId id="259" r:id="rId5"/>
    <p:sldId id="260" r:id="rId6"/>
    <p:sldId id="263"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5573"/>
    <a:srgbClr val="AB775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3969" autoAdjust="0"/>
  </p:normalViewPr>
  <p:slideViewPr>
    <p:cSldViewPr snapToGrid="0">
      <p:cViewPr varScale="1">
        <p:scale>
          <a:sx n="64" d="100"/>
          <a:sy n="64" d="100"/>
        </p:scale>
        <p:origin x="978" y="78"/>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1" Type="http://schemas.openxmlformats.org/officeDocument/2006/relationships/hyperlink" Target="https://www.kaggle.com/datasets/markmedhat/student-scores" TargetMode="External"/></Relationships>
</file>

<file path=ppt/diagrams/_rels/data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_rels/drawing1.xml.rels><?xml version="1.0" encoding="UTF-8" standalone="yes"?>
<Relationships xmlns="http://schemas.openxmlformats.org/package/2006/relationships"><Relationship Id="rId1" Type="http://schemas.openxmlformats.org/officeDocument/2006/relationships/hyperlink" Target="https://www.kaggle.com/datasets/markmedhat/student-scores" TargetMode="External"/></Relationships>
</file>

<file path=ppt/diagrams/_rels/drawing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svg"/><Relationship Id="rId1" Type="http://schemas.openxmlformats.org/officeDocument/2006/relationships/image" Target="../media/image18.png"/><Relationship Id="rId6" Type="http://schemas.openxmlformats.org/officeDocument/2006/relationships/image" Target="../media/image23.svg"/><Relationship Id="rId5" Type="http://schemas.openxmlformats.org/officeDocument/2006/relationships/image" Target="../media/image22.png"/><Relationship Id="rId4" Type="http://schemas.openxmlformats.org/officeDocument/2006/relationships/image" Target="../media/image21.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54FDF7-175E-41D6-8873-5CBDC8D1C23B}" type="doc">
      <dgm:prSet loTypeId="urn:microsoft.com/office/officeart/2018/2/layout/IconVerticalSolidList" loCatId="icon" qsTypeId="urn:microsoft.com/office/officeart/2005/8/quickstyle/3d4" qsCatId="3D" csTypeId="urn:microsoft.com/office/officeart/2005/8/colors/accent1_2" csCatId="accent1" phldr="1"/>
      <dgm:spPr/>
      <dgm:t>
        <a:bodyPr/>
        <a:lstStyle/>
        <a:p>
          <a:endParaRPr lang="en-US"/>
        </a:p>
      </dgm:t>
    </dgm:pt>
    <dgm:pt modelId="{183E7DBD-DA83-4193-A785-80C22FCA02CC}">
      <dgm:prSet custT="1"/>
      <dgm:spPr/>
      <dgm:t>
        <a:bodyPr/>
        <a:lstStyle/>
        <a:p>
          <a:pPr>
            <a:lnSpc>
              <a:spcPct val="100000"/>
            </a:lnSpc>
          </a:pPr>
          <a:r>
            <a:rPr lang="en-US" sz="1600" dirty="0">
              <a:latin typeface="Cambria" panose="02040503050406030204" pitchFamily="18" charset="0"/>
              <a:ea typeface="Cambria" panose="02040503050406030204" pitchFamily="18" charset="0"/>
            </a:rPr>
            <a:t>This analysis was performed using python programming  to load, clean, transform and analyze the data to generate insights with common python libraries such as NumPy, Pandas, Matplotlib and Seaborn</a:t>
          </a:r>
          <a:r>
            <a:rPr lang="en-US" sz="1600" b="1" dirty="0">
              <a:latin typeface="Cambria" panose="02040503050406030204" pitchFamily="18" charset="0"/>
              <a:ea typeface="Cambria" panose="02040503050406030204" pitchFamily="18" charset="0"/>
            </a:rPr>
            <a:t>.</a:t>
          </a:r>
          <a:endParaRPr lang="en-US" sz="1600" dirty="0">
            <a:latin typeface="Cambria" panose="02040503050406030204" pitchFamily="18" charset="0"/>
            <a:ea typeface="Cambria" panose="02040503050406030204" pitchFamily="18" charset="0"/>
          </a:endParaRPr>
        </a:p>
      </dgm:t>
    </dgm:pt>
    <dgm:pt modelId="{D55D14C2-08D8-43FB-A0C8-07251DEFA3C8}" type="parTrans" cxnId="{456B0569-F3B4-45B8-A918-83B7134FB034}">
      <dgm:prSet/>
      <dgm:spPr/>
      <dgm:t>
        <a:bodyPr/>
        <a:lstStyle/>
        <a:p>
          <a:endParaRPr lang="en-US"/>
        </a:p>
      </dgm:t>
    </dgm:pt>
    <dgm:pt modelId="{56D24BEE-EA30-4804-9967-4837802353C2}" type="sibTrans" cxnId="{456B0569-F3B4-45B8-A918-83B7134FB034}">
      <dgm:prSet/>
      <dgm:spPr/>
      <dgm:t>
        <a:bodyPr/>
        <a:lstStyle/>
        <a:p>
          <a:endParaRPr lang="en-US"/>
        </a:p>
      </dgm:t>
    </dgm:pt>
    <dgm:pt modelId="{1A884B1B-1C66-406A-9ED4-DBC3558432FF}">
      <dgm:prSet custT="1"/>
      <dgm:spPr>
        <a:solidFill>
          <a:srgbClr val="E34B7A">
            <a:tint val="40000"/>
            <a:hueOff val="0"/>
            <a:satOff val="0"/>
            <a:lumOff val="0"/>
            <a:alphaOff val="0"/>
          </a:srgbClr>
        </a:solidFill>
        <a:ln>
          <a:noFill/>
        </a:ln>
        <a:effectLst/>
        <a:scene3d>
          <a:camera prst="orthographicFront"/>
          <a:lightRig rig="chilly" dir="t"/>
        </a:scene3d>
        <a:sp3d z="-12700" extrusionH="1700" prstMaterial="translucentPowder">
          <a:bevelT w="25400" h="6350" prst="softRound"/>
          <a:bevelB w="0" h="0" prst="convex"/>
        </a:sp3d>
      </dgm:spPr>
      <dgm:t>
        <a:bodyPr/>
        <a:lstStyle/>
        <a:p>
          <a:pPr>
            <a:lnSpc>
              <a:spcPct val="100000"/>
            </a:lnSpc>
          </a:pPr>
          <a:r>
            <a:rPr lang="en-GB" sz="1600" dirty="0">
              <a:latin typeface="Cambria" panose="02040503050406030204" pitchFamily="18" charset="0"/>
              <a:ea typeface="Cambria" panose="02040503050406030204" pitchFamily="18" charset="0"/>
            </a:rPr>
            <a:t>The dataset used for this analysis was gotten from Kaggle and can be downloaded via this </a:t>
          </a:r>
          <a:r>
            <a:rPr lang="en-GB" sz="1600" dirty="0">
              <a:latin typeface="Cambria" panose="02040503050406030204" pitchFamily="18" charset="0"/>
              <a:ea typeface="Cambria" panose="02040503050406030204" pitchFamily="18" charset="0"/>
              <a:hlinkClick xmlns:r="http://schemas.openxmlformats.org/officeDocument/2006/relationships" r:id="rId1"/>
            </a:rPr>
            <a:t>LINK</a:t>
          </a:r>
          <a:r>
            <a:rPr lang="en-GB" sz="1600" dirty="0">
              <a:latin typeface="Cambria" panose="02040503050406030204" pitchFamily="18" charset="0"/>
              <a:ea typeface="Cambria" panose="02040503050406030204" pitchFamily="18" charset="0"/>
            </a:rPr>
            <a:t>. It contains college students' academic records with 2000 rows and 17 columns with features such as ‘id’, ‘first name’, ‘last name’, ‘gender’, ‘part time job’, ‘extracurricular activities and scores for subjects taken by the students</a:t>
          </a:r>
          <a:r>
            <a:rPr lang="en-GB" sz="1400" dirty="0"/>
            <a:t>.</a:t>
          </a:r>
          <a:endParaRPr lang="en-US" sz="1400" dirty="0"/>
        </a:p>
      </dgm:t>
    </dgm:pt>
    <dgm:pt modelId="{0B955360-2324-44C1-86B9-2C6894949B0A}" type="sibTrans" cxnId="{6B2B2EC7-72E0-4CC6-AF60-F4666EFD605E}">
      <dgm:prSet/>
      <dgm:spPr/>
      <dgm:t>
        <a:bodyPr/>
        <a:lstStyle/>
        <a:p>
          <a:endParaRPr lang="en-US"/>
        </a:p>
      </dgm:t>
    </dgm:pt>
    <dgm:pt modelId="{D3E1AF0B-D6CC-401C-9D33-9E48E7A2381E}" type="parTrans" cxnId="{6B2B2EC7-72E0-4CC6-AF60-F4666EFD605E}">
      <dgm:prSet/>
      <dgm:spPr/>
      <dgm:t>
        <a:bodyPr/>
        <a:lstStyle/>
        <a:p>
          <a:endParaRPr lang="en-US"/>
        </a:p>
      </dgm:t>
    </dgm:pt>
    <dgm:pt modelId="{32A7CE07-0246-40E5-9825-553747A1CE7F}" type="pres">
      <dgm:prSet presAssocID="{2054FDF7-175E-41D6-8873-5CBDC8D1C23B}" presName="root" presStyleCnt="0">
        <dgm:presLayoutVars>
          <dgm:dir/>
          <dgm:resizeHandles val="exact"/>
        </dgm:presLayoutVars>
      </dgm:prSet>
      <dgm:spPr/>
    </dgm:pt>
    <dgm:pt modelId="{2B851E4C-EA7B-444A-A6B1-BBE32D8ED449}" type="pres">
      <dgm:prSet presAssocID="{1A884B1B-1C66-406A-9ED4-DBC3558432FF}" presName="compNode" presStyleCnt="0"/>
      <dgm:spPr/>
    </dgm:pt>
    <dgm:pt modelId="{C324D8DD-F116-4596-94C8-1CDE97FF99E8}" type="pres">
      <dgm:prSet presAssocID="{1A884B1B-1C66-406A-9ED4-DBC3558432FF}" presName="bgRect" presStyleLbl="bgShp" presStyleIdx="0" presStyleCnt="2"/>
      <dgm:spPr/>
    </dgm:pt>
    <dgm:pt modelId="{B2399F8B-238C-4A42-88A2-E62D48A23470}" type="pres">
      <dgm:prSet presAssocID="{1A884B1B-1C66-406A-9ED4-DBC3558432FF}" presName="iconRect" presStyleLbl="node1" presStyleIdx="0" presStyleCnt="2" custFlipVert="1" custFlipHor="1" custScaleX="32112" custScaleY="206930" custLinFactX="-577210" custLinFactY="-100000" custLinFactNeighborX="-600000" custLinFactNeighborY="-147774"/>
      <dgm:spPr/>
    </dgm:pt>
    <dgm:pt modelId="{AB9EF98E-B8DA-4DF6-93F1-C0C9FB2A9DE7}" type="pres">
      <dgm:prSet presAssocID="{1A884B1B-1C66-406A-9ED4-DBC3558432FF}" presName="spaceRect" presStyleCnt="0"/>
      <dgm:spPr/>
    </dgm:pt>
    <dgm:pt modelId="{B3B9B48A-7DA9-4552-A818-4AE53BFE02FE}" type="pres">
      <dgm:prSet presAssocID="{1A884B1B-1C66-406A-9ED4-DBC3558432FF}" presName="parTx" presStyleLbl="revTx" presStyleIdx="0" presStyleCnt="2" custScaleX="100000" custLinFactNeighborX="3882">
        <dgm:presLayoutVars>
          <dgm:chMax val="0"/>
          <dgm:chPref val="0"/>
        </dgm:presLayoutVars>
      </dgm:prSet>
      <dgm:spPr>
        <a:xfrm>
          <a:off x="-215271" y="364479"/>
          <a:ext cx="7624035" cy="1210106"/>
        </a:xfrm>
        <a:prstGeom prst="rect">
          <a:avLst/>
        </a:prstGeom>
      </dgm:spPr>
    </dgm:pt>
    <dgm:pt modelId="{FD555B48-5748-498F-AAD6-D6177C29C002}" type="pres">
      <dgm:prSet presAssocID="{0B955360-2324-44C1-86B9-2C6894949B0A}" presName="sibTrans" presStyleCnt="0"/>
      <dgm:spPr/>
    </dgm:pt>
    <dgm:pt modelId="{0D4F999A-ADF3-49ED-B1D8-0AD24BA40295}" type="pres">
      <dgm:prSet presAssocID="{183E7DBD-DA83-4193-A785-80C22FCA02CC}" presName="compNode" presStyleCnt="0"/>
      <dgm:spPr/>
    </dgm:pt>
    <dgm:pt modelId="{7330A549-5797-4EC3-BC52-6D1BF0F19B14}" type="pres">
      <dgm:prSet presAssocID="{183E7DBD-DA83-4193-A785-80C22FCA02CC}" presName="bgRect" presStyleLbl="bgShp" presStyleIdx="1" presStyleCnt="2"/>
      <dgm:spPr>
        <a:xfrm>
          <a:off x="0" y="1829221"/>
          <a:ext cx="7690220" cy="1212473"/>
        </a:xfrm>
        <a:prstGeom prst="roundRect">
          <a:avLst>
            <a:gd name="adj" fmla="val 10000"/>
          </a:avLst>
        </a:prstGeom>
        <a:solidFill>
          <a:srgbClr val="E34B7A">
            <a:tint val="40000"/>
            <a:hueOff val="0"/>
            <a:satOff val="0"/>
            <a:lumOff val="0"/>
            <a:alphaOff val="0"/>
          </a:srgbClr>
        </a:solidFill>
        <a:ln>
          <a:noFill/>
        </a:ln>
        <a:effectLst/>
        <a:scene3d>
          <a:camera prst="orthographicFront"/>
          <a:lightRig rig="chilly" dir="t"/>
        </a:scene3d>
        <a:sp3d z="-12700" extrusionH="1700" prstMaterial="translucentPowder">
          <a:bevelT w="25400" h="6350" prst="softRound"/>
          <a:bevelB w="0" h="0" prst="convex"/>
        </a:sp3d>
      </dgm:spPr>
    </dgm:pt>
    <dgm:pt modelId="{60B85E64-2A2D-44E0-8787-47C4D99DFED7}" type="pres">
      <dgm:prSet presAssocID="{183E7DBD-DA83-4193-A785-80C22FCA02CC}" presName="iconRect" presStyleLbl="node1" presStyleIdx="1" presStyleCnt="2" custAng="6023971" custFlipVert="1" custFlipHor="0" custScaleX="2000000" custScaleY="20818" custLinFactX="-600000" custLinFactNeighborX="-635867" custLinFactNeighborY="23042"/>
      <dgm:spPr/>
    </dgm:pt>
    <dgm:pt modelId="{9A0F3B91-97C4-4F75-997B-56C9CCCF6456}" type="pres">
      <dgm:prSet presAssocID="{183E7DBD-DA83-4193-A785-80C22FCA02CC}" presName="spaceRect" presStyleCnt="0"/>
      <dgm:spPr/>
    </dgm:pt>
    <dgm:pt modelId="{527C94A0-2C2C-4C76-A431-DEB9DA8E2700}" type="pres">
      <dgm:prSet presAssocID="{183E7DBD-DA83-4193-A785-80C22FCA02CC}" presName="parTx" presStyleLbl="revTx" presStyleIdx="1" presStyleCnt="2" custScaleX="99770" custLinFactNeighborX="149" custLinFactNeighborY="2887">
        <dgm:presLayoutVars>
          <dgm:chMax val="0"/>
          <dgm:chPref val="0"/>
        </dgm:presLayoutVars>
      </dgm:prSet>
      <dgm:spPr/>
    </dgm:pt>
  </dgm:ptLst>
  <dgm:cxnLst>
    <dgm:cxn modelId="{37AD473F-F2D7-4AE8-BE9B-B6153A52BB13}" type="presOf" srcId="{1A884B1B-1C66-406A-9ED4-DBC3558432FF}" destId="{B3B9B48A-7DA9-4552-A818-4AE53BFE02FE}" srcOrd="0" destOrd="0" presId="urn:microsoft.com/office/officeart/2018/2/layout/IconVerticalSolidList"/>
    <dgm:cxn modelId="{456B0569-F3B4-45B8-A918-83B7134FB034}" srcId="{2054FDF7-175E-41D6-8873-5CBDC8D1C23B}" destId="{183E7DBD-DA83-4193-A785-80C22FCA02CC}" srcOrd="1" destOrd="0" parTransId="{D55D14C2-08D8-43FB-A0C8-07251DEFA3C8}" sibTransId="{56D24BEE-EA30-4804-9967-4837802353C2}"/>
    <dgm:cxn modelId="{F37FAA4A-101B-4906-A57D-46C60B65E063}" type="presOf" srcId="{2054FDF7-175E-41D6-8873-5CBDC8D1C23B}" destId="{32A7CE07-0246-40E5-9825-553747A1CE7F}" srcOrd="0" destOrd="0" presId="urn:microsoft.com/office/officeart/2018/2/layout/IconVerticalSolidList"/>
    <dgm:cxn modelId="{435BB5C5-8B71-4C68-8222-871F9431C9FD}" type="presOf" srcId="{183E7DBD-DA83-4193-A785-80C22FCA02CC}" destId="{527C94A0-2C2C-4C76-A431-DEB9DA8E2700}" srcOrd="0" destOrd="0" presId="urn:microsoft.com/office/officeart/2018/2/layout/IconVerticalSolidList"/>
    <dgm:cxn modelId="{6B2B2EC7-72E0-4CC6-AF60-F4666EFD605E}" srcId="{2054FDF7-175E-41D6-8873-5CBDC8D1C23B}" destId="{1A884B1B-1C66-406A-9ED4-DBC3558432FF}" srcOrd="0" destOrd="0" parTransId="{D3E1AF0B-D6CC-401C-9D33-9E48E7A2381E}" sibTransId="{0B955360-2324-44C1-86B9-2C6894949B0A}"/>
    <dgm:cxn modelId="{2EB904F3-7CE9-49DA-A9A4-BAE3ED9CA067}" type="presParOf" srcId="{32A7CE07-0246-40E5-9825-553747A1CE7F}" destId="{2B851E4C-EA7B-444A-A6B1-BBE32D8ED449}" srcOrd="0" destOrd="0" presId="urn:microsoft.com/office/officeart/2018/2/layout/IconVerticalSolidList"/>
    <dgm:cxn modelId="{3847B983-EBF7-40CB-87AF-C5ABA04E16E6}" type="presParOf" srcId="{2B851E4C-EA7B-444A-A6B1-BBE32D8ED449}" destId="{C324D8DD-F116-4596-94C8-1CDE97FF99E8}" srcOrd="0" destOrd="0" presId="urn:microsoft.com/office/officeart/2018/2/layout/IconVerticalSolidList"/>
    <dgm:cxn modelId="{81511A12-46E2-4327-B1AE-B022C07EB97E}" type="presParOf" srcId="{2B851E4C-EA7B-444A-A6B1-BBE32D8ED449}" destId="{B2399F8B-238C-4A42-88A2-E62D48A23470}" srcOrd="1" destOrd="0" presId="urn:microsoft.com/office/officeart/2018/2/layout/IconVerticalSolidList"/>
    <dgm:cxn modelId="{BBA6FD02-B3BB-4CFC-92E2-755E1D81C790}" type="presParOf" srcId="{2B851E4C-EA7B-444A-A6B1-BBE32D8ED449}" destId="{AB9EF98E-B8DA-4DF6-93F1-C0C9FB2A9DE7}" srcOrd="2" destOrd="0" presId="urn:microsoft.com/office/officeart/2018/2/layout/IconVerticalSolidList"/>
    <dgm:cxn modelId="{14443853-E258-4AD7-A132-A2D4D08EFB46}" type="presParOf" srcId="{2B851E4C-EA7B-444A-A6B1-BBE32D8ED449}" destId="{B3B9B48A-7DA9-4552-A818-4AE53BFE02FE}" srcOrd="3" destOrd="0" presId="urn:microsoft.com/office/officeart/2018/2/layout/IconVerticalSolidList"/>
    <dgm:cxn modelId="{72A0F993-3E28-4333-A1BD-CE6BA09EB968}" type="presParOf" srcId="{32A7CE07-0246-40E5-9825-553747A1CE7F}" destId="{FD555B48-5748-498F-AAD6-D6177C29C002}" srcOrd="1" destOrd="0" presId="urn:microsoft.com/office/officeart/2018/2/layout/IconVerticalSolidList"/>
    <dgm:cxn modelId="{BD32DFB1-B777-4FB8-8252-AA0427704C92}" type="presParOf" srcId="{32A7CE07-0246-40E5-9825-553747A1CE7F}" destId="{0D4F999A-ADF3-49ED-B1D8-0AD24BA40295}" srcOrd="2" destOrd="0" presId="urn:microsoft.com/office/officeart/2018/2/layout/IconVerticalSolidList"/>
    <dgm:cxn modelId="{AEC0C891-0B57-4B96-BFB7-CE657125DF9C}" type="presParOf" srcId="{0D4F999A-ADF3-49ED-B1D8-0AD24BA40295}" destId="{7330A549-5797-4EC3-BC52-6D1BF0F19B14}" srcOrd="0" destOrd="0" presId="urn:microsoft.com/office/officeart/2018/2/layout/IconVerticalSolidList"/>
    <dgm:cxn modelId="{9135C8DB-029A-4F02-90B7-78948BA73818}" type="presParOf" srcId="{0D4F999A-ADF3-49ED-B1D8-0AD24BA40295}" destId="{60B85E64-2A2D-44E0-8787-47C4D99DFED7}" srcOrd="1" destOrd="0" presId="urn:microsoft.com/office/officeart/2018/2/layout/IconVerticalSolidList"/>
    <dgm:cxn modelId="{C7613BDF-FE6B-4DDD-93DB-EFE238061B60}" type="presParOf" srcId="{0D4F999A-ADF3-49ED-B1D8-0AD24BA40295}" destId="{9A0F3B91-97C4-4F75-997B-56C9CCCF6456}" srcOrd="2" destOrd="0" presId="urn:microsoft.com/office/officeart/2018/2/layout/IconVerticalSolidList"/>
    <dgm:cxn modelId="{BAC81FB9-0EA1-4F5F-9883-F6509CB47886}" type="presParOf" srcId="{0D4F999A-ADF3-49ED-B1D8-0AD24BA40295}" destId="{527C94A0-2C2C-4C76-A431-DEB9DA8E2700}" srcOrd="3" destOrd="0" presId="urn:microsoft.com/office/officeart/2018/2/layout/IconVerticalSolidList"/>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0E5FA76-7AF9-4000-9341-0E19940EBD4F}" type="doc">
      <dgm:prSet loTypeId="urn:microsoft.com/office/officeart/2018/2/layout/IconVerticalSolidList" loCatId="icon" qsTypeId="urn:microsoft.com/office/officeart/2005/8/quickstyle/3d4" qsCatId="3D" csTypeId="urn:microsoft.com/office/officeart/2005/8/colors/accent1_2" csCatId="accent1" phldr="1"/>
      <dgm:spPr/>
      <dgm:t>
        <a:bodyPr/>
        <a:lstStyle/>
        <a:p>
          <a:endParaRPr lang="en-US"/>
        </a:p>
      </dgm:t>
    </dgm:pt>
    <dgm:pt modelId="{D3C42457-2C05-4369-AA8F-C8B7F94FF658}">
      <dgm:prSet custT="1"/>
      <dgm:spPr/>
      <dgm:t>
        <a:bodyPr/>
        <a:lstStyle/>
        <a:p>
          <a:pPr>
            <a:lnSpc>
              <a:spcPct val="100000"/>
            </a:lnSpc>
          </a:pPr>
          <a:r>
            <a:rPr lang="en-US" sz="1600" dirty="0">
              <a:latin typeface="Cambria" panose="02040503050406030204" pitchFamily="18" charset="0"/>
              <a:ea typeface="Cambria" panose="02040503050406030204" pitchFamily="18" charset="0"/>
            </a:rPr>
            <a:t>As </a:t>
          </a:r>
          <a:r>
            <a:rPr lang="en-GB" sz="1600" dirty="0">
              <a:latin typeface="Cambria" panose="02040503050406030204" pitchFamily="18" charset="0"/>
              <a:ea typeface="Cambria" panose="02040503050406030204" pitchFamily="18" charset="0"/>
            </a:rPr>
            <a:t>self-study and class attendance appear to be strongest predictors of academic success, students should prioritize regular class attendance and dedicate consistent time to personal study.</a:t>
          </a:r>
          <a:endParaRPr lang="en-US" sz="1600" dirty="0">
            <a:latin typeface="Cambria" panose="02040503050406030204" pitchFamily="18" charset="0"/>
            <a:ea typeface="Cambria" panose="02040503050406030204" pitchFamily="18" charset="0"/>
          </a:endParaRPr>
        </a:p>
      </dgm:t>
    </dgm:pt>
    <dgm:pt modelId="{A37E8029-50B1-4D57-B241-EC818A84A7D7}" type="parTrans" cxnId="{61E6DCDD-3C6B-4E13-941F-05F47041674C}">
      <dgm:prSet/>
      <dgm:spPr/>
      <dgm:t>
        <a:bodyPr/>
        <a:lstStyle/>
        <a:p>
          <a:endParaRPr lang="en-US"/>
        </a:p>
      </dgm:t>
    </dgm:pt>
    <dgm:pt modelId="{6BDD8A56-9AD1-4EC7-9C8E-2419B045E790}" type="sibTrans" cxnId="{61E6DCDD-3C6B-4E13-941F-05F47041674C}">
      <dgm:prSet/>
      <dgm:spPr/>
      <dgm:t>
        <a:bodyPr/>
        <a:lstStyle/>
        <a:p>
          <a:endParaRPr lang="en-US"/>
        </a:p>
      </dgm:t>
    </dgm:pt>
    <dgm:pt modelId="{D773DA13-553A-43AD-A67E-4750304E2F3A}">
      <dgm:prSet custT="1"/>
      <dgm:spPr/>
      <dgm:t>
        <a:bodyPr/>
        <a:lstStyle/>
        <a:p>
          <a:pPr>
            <a:lnSpc>
              <a:spcPct val="100000"/>
            </a:lnSpc>
          </a:pPr>
          <a:r>
            <a:rPr lang="en-GB" sz="1600" dirty="0">
              <a:latin typeface="Cambria" panose="02040503050406030204" pitchFamily="18" charset="0"/>
              <a:ea typeface="Cambria" panose="02040503050406030204" pitchFamily="18" charset="0"/>
            </a:rPr>
            <a:t>The school should encourage students’ participation in extracurricular activities because of the benefits it offers in developing cognitive skills that can help in overall academic performance. This however should be balanced with teaching the students time management skills.</a:t>
          </a:r>
          <a:endParaRPr lang="en-US" sz="1600" dirty="0">
            <a:latin typeface="Cambria" panose="02040503050406030204" pitchFamily="18" charset="0"/>
            <a:ea typeface="Cambria" panose="02040503050406030204" pitchFamily="18" charset="0"/>
          </a:endParaRPr>
        </a:p>
      </dgm:t>
    </dgm:pt>
    <dgm:pt modelId="{D381DE17-445B-4957-9C68-7E1065BE57B5}" type="parTrans" cxnId="{9261EC18-91DF-4C00-B92A-A47F8BA472F0}">
      <dgm:prSet/>
      <dgm:spPr/>
      <dgm:t>
        <a:bodyPr/>
        <a:lstStyle/>
        <a:p>
          <a:endParaRPr lang="en-US"/>
        </a:p>
      </dgm:t>
    </dgm:pt>
    <dgm:pt modelId="{4D418988-B2F8-4FEF-BA43-9D38D8C318E2}" type="sibTrans" cxnId="{9261EC18-91DF-4C00-B92A-A47F8BA472F0}">
      <dgm:prSet/>
      <dgm:spPr/>
      <dgm:t>
        <a:bodyPr/>
        <a:lstStyle/>
        <a:p>
          <a:endParaRPr lang="en-US"/>
        </a:p>
      </dgm:t>
    </dgm:pt>
    <dgm:pt modelId="{3B0FEABE-4C43-4DC2-859F-99BF573AA85A}">
      <dgm:prSet custT="1"/>
      <dgm:spPr/>
      <dgm:t>
        <a:bodyPr/>
        <a:lstStyle/>
        <a:p>
          <a:pPr>
            <a:lnSpc>
              <a:spcPct val="100000"/>
            </a:lnSpc>
          </a:pPr>
          <a:r>
            <a:rPr lang="en-NG" sz="1600" b="0" i="0" baseline="0" dirty="0">
              <a:latin typeface="Cambria" panose="02040503050406030204" pitchFamily="18" charset="0"/>
              <a:ea typeface="Cambria" panose="02040503050406030204" pitchFamily="18" charset="0"/>
            </a:rPr>
            <a:t>Indigen</a:t>
          </a:r>
          <a:r>
            <a:rPr lang="en-US" sz="1600" b="0" i="0" baseline="0" dirty="0">
              <a:latin typeface="Cambria" panose="02040503050406030204" pitchFamily="18" charset="0"/>
              <a:ea typeface="Cambria" panose="02040503050406030204" pitchFamily="18" charset="0"/>
            </a:rPr>
            <a:t>t</a:t>
          </a:r>
          <a:r>
            <a:rPr lang="en-NG" sz="1600" b="0" i="0" baseline="0" dirty="0">
              <a:latin typeface="Cambria" panose="02040503050406030204" pitchFamily="18" charset="0"/>
              <a:ea typeface="Cambria" panose="02040503050406030204" pitchFamily="18" charset="0"/>
            </a:rPr>
            <a:t> students needing financial support </a:t>
          </a:r>
          <a:r>
            <a:rPr lang="en-US" sz="1600" b="0" i="0" baseline="0" dirty="0">
              <a:latin typeface="Cambria" panose="02040503050406030204" pitchFamily="18" charset="0"/>
              <a:ea typeface="Cambria" panose="02040503050406030204" pitchFamily="18" charset="0"/>
            </a:rPr>
            <a:t>can</a:t>
          </a:r>
          <a:r>
            <a:rPr lang="en-NG" sz="1600" b="0" i="0" baseline="0" dirty="0">
              <a:latin typeface="Cambria" panose="02040503050406030204" pitchFamily="18" charset="0"/>
              <a:ea typeface="Cambria" panose="02040503050406030204" pitchFamily="18" charset="0"/>
            </a:rPr>
            <a:t> be encouraged to </a:t>
          </a:r>
          <a:r>
            <a:rPr lang="en-US" sz="1600" b="0" i="0" baseline="0" dirty="0">
              <a:latin typeface="Cambria" panose="02040503050406030204" pitchFamily="18" charset="0"/>
              <a:ea typeface="Cambria" panose="02040503050406030204" pitchFamily="18" charset="0"/>
            </a:rPr>
            <a:t>engage in part time jobs</a:t>
          </a:r>
          <a:r>
            <a:rPr lang="en-NG" sz="1600" b="0" i="0" baseline="0" dirty="0">
              <a:latin typeface="Cambria" panose="02040503050406030204" pitchFamily="18" charset="0"/>
              <a:ea typeface="Cambria" panose="02040503050406030204" pitchFamily="18" charset="0"/>
            </a:rPr>
            <a:t> with proper planning and time management. Non-indigen</a:t>
          </a:r>
          <a:r>
            <a:rPr lang="en-US" sz="1600" b="0" i="0" baseline="0" dirty="0">
              <a:latin typeface="Cambria" panose="02040503050406030204" pitchFamily="18" charset="0"/>
              <a:ea typeface="Cambria" panose="02040503050406030204" pitchFamily="18" charset="0"/>
            </a:rPr>
            <a:t>t</a:t>
          </a:r>
          <a:r>
            <a:rPr lang="en-NG" sz="1600" b="0" i="0" baseline="0" dirty="0">
              <a:latin typeface="Cambria" panose="02040503050406030204" pitchFamily="18" charset="0"/>
              <a:ea typeface="Cambria" panose="02040503050406030204" pitchFamily="18" charset="0"/>
            </a:rPr>
            <a:t> students, however, should focus fully on their studies for better academic outcomes.</a:t>
          </a:r>
          <a:endParaRPr lang="en-US" sz="1600" dirty="0">
            <a:latin typeface="Cambria" panose="02040503050406030204" pitchFamily="18" charset="0"/>
            <a:ea typeface="Cambria" panose="02040503050406030204" pitchFamily="18" charset="0"/>
          </a:endParaRPr>
        </a:p>
      </dgm:t>
    </dgm:pt>
    <dgm:pt modelId="{BDCF5420-7A9A-4438-B8DA-EAC06CB215F0}" type="parTrans" cxnId="{CA1C270C-CE4A-4A1F-B1E6-B10B6204099E}">
      <dgm:prSet/>
      <dgm:spPr/>
      <dgm:t>
        <a:bodyPr/>
        <a:lstStyle/>
        <a:p>
          <a:endParaRPr lang="en-US"/>
        </a:p>
      </dgm:t>
    </dgm:pt>
    <dgm:pt modelId="{0518AAA4-C0CF-466E-AF7C-D43F89F7A3F1}" type="sibTrans" cxnId="{CA1C270C-CE4A-4A1F-B1E6-B10B6204099E}">
      <dgm:prSet/>
      <dgm:spPr/>
      <dgm:t>
        <a:bodyPr/>
        <a:lstStyle/>
        <a:p>
          <a:endParaRPr lang="en-US"/>
        </a:p>
      </dgm:t>
    </dgm:pt>
    <dgm:pt modelId="{B6EFB317-1E34-4DE2-A545-B8D727FD4ABB}" type="pres">
      <dgm:prSet presAssocID="{10E5FA76-7AF9-4000-9341-0E19940EBD4F}" presName="root" presStyleCnt="0">
        <dgm:presLayoutVars>
          <dgm:dir/>
          <dgm:resizeHandles val="exact"/>
        </dgm:presLayoutVars>
      </dgm:prSet>
      <dgm:spPr/>
    </dgm:pt>
    <dgm:pt modelId="{28E1EBB5-4B78-4BFC-B2AD-D3BE329C8F30}" type="pres">
      <dgm:prSet presAssocID="{D3C42457-2C05-4369-AA8F-C8B7F94FF658}" presName="compNode" presStyleCnt="0"/>
      <dgm:spPr/>
    </dgm:pt>
    <dgm:pt modelId="{EE148971-026C-4ADB-BE29-3661025A7E37}" type="pres">
      <dgm:prSet presAssocID="{D3C42457-2C05-4369-AA8F-C8B7F94FF658}" presName="bgRect" presStyleLbl="bgShp" presStyleIdx="0" presStyleCnt="3"/>
      <dgm:spPr/>
    </dgm:pt>
    <dgm:pt modelId="{384DC3CA-D2BD-4D80-A64F-B88471FA5BEB}" type="pres">
      <dgm:prSet presAssocID="{D3C42457-2C05-4369-AA8F-C8B7F94FF65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Books"/>
        </a:ext>
      </dgm:extLst>
    </dgm:pt>
    <dgm:pt modelId="{563F7732-1FF7-4B98-8C3D-12C0CC79C777}" type="pres">
      <dgm:prSet presAssocID="{D3C42457-2C05-4369-AA8F-C8B7F94FF658}" presName="spaceRect" presStyleCnt="0"/>
      <dgm:spPr/>
    </dgm:pt>
    <dgm:pt modelId="{C7FE55DE-E01C-4970-8A33-9D1FF20AA32B}" type="pres">
      <dgm:prSet presAssocID="{D3C42457-2C05-4369-AA8F-C8B7F94FF658}" presName="parTx" presStyleLbl="revTx" presStyleIdx="0" presStyleCnt="3">
        <dgm:presLayoutVars>
          <dgm:chMax val="0"/>
          <dgm:chPref val="0"/>
        </dgm:presLayoutVars>
      </dgm:prSet>
      <dgm:spPr/>
    </dgm:pt>
    <dgm:pt modelId="{FAE76376-62AC-4A51-BD94-1B268A3FFF26}" type="pres">
      <dgm:prSet presAssocID="{6BDD8A56-9AD1-4EC7-9C8E-2419B045E790}" presName="sibTrans" presStyleCnt="0"/>
      <dgm:spPr/>
    </dgm:pt>
    <dgm:pt modelId="{837C4AA8-B59E-4737-AA2D-6E7DF020E723}" type="pres">
      <dgm:prSet presAssocID="{D773DA13-553A-43AD-A67E-4750304E2F3A}" presName="compNode" presStyleCnt="0"/>
      <dgm:spPr/>
    </dgm:pt>
    <dgm:pt modelId="{5748DB69-3F97-45E6-BE1A-BEEA831F4934}" type="pres">
      <dgm:prSet presAssocID="{D773DA13-553A-43AD-A67E-4750304E2F3A}" presName="bgRect" presStyleLbl="bgShp" presStyleIdx="1" presStyleCnt="3"/>
      <dgm:spPr/>
    </dgm:pt>
    <dgm:pt modelId="{8A2B3476-E9BB-4A97-B8F8-E51FE588694D}" type="pres">
      <dgm:prSet presAssocID="{D773DA13-553A-43AD-A67E-4750304E2F3A}"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port Balls"/>
        </a:ext>
      </dgm:extLst>
    </dgm:pt>
    <dgm:pt modelId="{6F17B46A-7632-477A-8D13-AF63FC950BF8}" type="pres">
      <dgm:prSet presAssocID="{D773DA13-553A-43AD-A67E-4750304E2F3A}" presName="spaceRect" presStyleCnt="0"/>
      <dgm:spPr/>
    </dgm:pt>
    <dgm:pt modelId="{1C02F350-FF7E-49DC-BCFD-16DDE8FC8E51}" type="pres">
      <dgm:prSet presAssocID="{D773DA13-553A-43AD-A67E-4750304E2F3A}" presName="parTx" presStyleLbl="revTx" presStyleIdx="1" presStyleCnt="3">
        <dgm:presLayoutVars>
          <dgm:chMax val="0"/>
          <dgm:chPref val="0"/>
        </dgm:presLayoutVars>
      </dgm:prSet>
      <dgm:spPr/>
    </dgm:pt>
    <dgm:pt modelId="{FB817046-3615-45E9-BD24-2C679833CE59}" type="pres">
      <dgm:prSet presAssocID="{4D418988-B2F8-4FEF-BA43-9D38D8C318E2}" presName="sibTrans" presStyleCnt="0"/>
      <dgm:spPr/>
    </dgm:pt>
    <dgm:pt modelId="{688C7509-B4D6-4A1D-A853-0DF18B777150}" type="pres">
      <dgm:prSet presAssocID="{3B0FEABE-4C43-4DC2-859F-99BF573AA85A}" presName="compNode" presStyleCnt="0"/>
      <dgm:spPr/>
    </dgm:pt>
    <dgm:pt modelId="{4A0DCA02-1795-42E9-945D-9F8E197D4C6F}" type="pres">
      <dgm:prSet presAssocID="{3B0FEABE-4C43-4DC2-859F-99BF573AA85A}" presName="bgRect" presStyleLbl="bgShp" presStyleIdx="2" presStyleCnt="3"/>
      <dgm:spPr/>
    </dgm:pt>
    <dgm:pt modelId="{B930650D-7FFC-4CA4-B937-68B8AB5B1BF5}" type="pres">
      <dgm:prSet presAssocID="{3B0FEABE-4C43-4DC2-859F-99BF573AA85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eeting"/>
        </a:ext>
      </dgm:extLst>
    </dgm:pt>
    <dgm:pt modelId="{724E50AD-49B1-48BC-AC29-28126C7FF243}" type="pres">
      <dgm:prSet presAssocID="{3B0FEABE-4C43-4DC2-859F-99BF573AA85A}" presName="spaceRect" presStyleCnt="0"/>
      <dgm:spPr/>
    </dgm:pt>
    <dgm:pt modelId="{9383624E-6622-4D5D-B6C1-6138971F0F54}" type="pres">
      <dgm:prSet presAssocID="{3B0FEABE-4C43-4DC2-859F-99BF573AA85A}" presName="parTx" presStyleLbl="revTx" presStyleIdx="2" presStyleCnt="3">
        <dgm:presLayoutVars>
          <dgm:chMax val="0"/>
          <dgm:chPref val="0"/>
        </dgm:presLayoutVars>
      </dgm:prSet>
      <dgm:spPr/>
    </dgm:pt>
  </dgm:ptLst>
  <dgm:cxnLst>
    <dgm:cxn modelId="{CA1C270C-CE4A-4A1F-B1E6-B10B6204099E}" srcId="{10E5FA76-7AF9-4000-9341-0E19940EBD4F}" destId="{3B0FEABE-4C43-4DC2-859F-99BF573AA85A}" srcOrd="2" destOrd="0" parTransId="{BDCF5420-7A9A-4438-B8DA-EAC06CB215F0}" sibTransId="{0518AAA4-C0CF-466E-AF7C-D43F89F7A3F1}"/>
    <dgm:cxn modelId="{9261EC18-91DF-4C00-B92A-A47F8BA472F0}" srcId="{10E5FA76-7AF9-4000-9341-0E19940EBD4F}" destId="{D773DA13-553A-43AD-A67E-4750304E2F3A}" srcOrd="1" destOrd="0" parTransId="{D381DE17-445B-4957-9C68-7E1065BE57B5}" sibTransId="{4D418988-B2F8-4FEF-BA43-9D38D8C318E2}"/>
    <dgm:cxn modelId="{8F29EC19-3874-4F07-8347-CC0119635147}" type="presOf" srcId="{D773DA13-553A-43AD-A67E-4750304E2F3A}" destId="{1C02F350-FF7E-49DC-BCFD-16DDE8FC8E51}" srcOrd="0" destOrd="0" presId="urn:microsoft.com/office/officeart/2018/2/layout/IconVerticalSolidList"/>
    <dgm:cxn modelId="{61E6DCDD-3C6B-4E13-941F-05F47041674C}" srcId="{10E5FA76-7AF9-4000-9341-0E19940EBD4F}" destId="{D3C42457-2C05-4369-AA8F-C8B7F94FF658}" srcOrd="0" destOrd="0" parTransId="{A37E8029-50B1-4D57-B241-EC818A84A7D7}" sibTransId="{6BDD8A56-9AD1-4EC7-9C8E-2419B045E790}"/>
    <dgm:cxn modelId="{E4DF3DE2-3649-447F-BCD7-300CC176FC7A}" type="presOf" srcId="{10E5FA76-7AF9-4000-9341-0E19940EBD4F}" destId="{B6EFB317-1E34-4DE2-A545-B8D727FD4ABB}" srcOrd="0" destOrd="0" presId="urn:microsoft.com/office/officeart/2018/2/layout/IconVerticalSolidList"/>
    <dgm:cxn modelId="{C0884BE8-C355-4F22-B9E1-E18DF89D82C8}" type="presOf" srcId="{3B0FEABE-4C43-4DC2-859F-99BF573AA85A}" destId="{9383624E-6622-4D5D-B6C1-6138971F0F54}" srcOrd="0" destOrd="0" presId="urn:microsoft.com/office/officeart/2018/2/layout/IconVerticalSolidList"/>
    <dgm:cxn modelId="{6ED547FB-62A8-470D-B2D7-7093D9AC3AE6}" type="presOf" srcId="{D3C42457-2C05-4369-AA8F-C8B7F94FF658}" destId="{C7FE55DE-E01C-4970-8A33-9D1FF20AA32B}" srcOrd="0" destOrd="0" presId="urn:microsoft.com/office/officeart/2018/2/layout/IconVerticalSolidList"/>
    <dgm:cxn modelId="{F6741ABF-7000-4533-812C-746FD6D5B3B9}" type="presParOf" srcId="{B6EFB317-1E34-4DE2-A545-B8D727FD4ABB}" destId="{28E1EBB5-4B78-4BFC-B2AD-D3BE329C8F30}" srcOrd="0" destOrd="0" presId="urn:microsoft.com/office/officeart/2018/2/layout/IconVerticalSolidList"/>
    <dgm:cxn modelId="{6EC8809C-B9DB-41F9-AD34-D68A83AE3B50}" type="presParOf" srcId="{28E1EBB5-4B78-4BFC-B2AD-D3BE329C8F30}" destId="{EE148971-026C-4ADB-BE29-3661025A7E37}" srcOrd="0" destOrd="0" presId="urn:microsoft.com/office/officeart/2018/2/layout/IconVerticalSolidList"/>
    <dgm:cxn modelId="{ABD338DC-4A76-47FA-B519-5B127817815B}" type="presParOf" srcId="{28E1EBB5-4B78-4BFC-B2AD-D3BE329C8F30}" destId="{384DC3CA-D2BD-4D80-A64F-B88471FA5BEB}" srcOrd="1" destOrd="0" presId="urn:microsoft.com/office/officeart/2018/2/layout/IconVerticalSolidList"/>
    <dgm:cxn modelId="{B41F26BF-FFED-4608-AA91-2BF2A0A4E671}" type="presParOf" srcId="{28E1EBB5-4B78-4BFC-B2AD-D3BE329C8F30}" destId="{563F7732-1FF7-4B98-8C3D-12C0CC79C777}" srcOrd="2" destOrd="0" presId="urn:microsoft.com/office/officeart/2018/2/layout/IconVerticalSolidList"/>
    <dgm:cxn modelId="{94F012EE-7232-4F18-B84A-F456DBB28CC5}" type="presParOf" srcId="{28E1EBB5-4B78-4BFC-B2AD-D3BE329C8F30}" destId="{C7FE55DE-E01C-4970-8A33-9D1FF20AA32B}" srcOrd="3" destOrd="0" presId="urn:microsoft.com/office/officeart/2018/2/layout/IconVerticalSolidList"/>
    <dgm:cxn modelId="{AA762570-65EB-4216-89BE-35C3FA30F147}" type="presParOf" srcId="{B6EFB317-1E34-4DE2-A545-B8D727FD4ABB}" destId="{FAE76376-62AC-4A51-BD94-1B268A3FFF26}" srcOrd="1" destOrd="0" presId="urn:microsoft.com/office/officeart/2018/2/layout/IconVerticalSolidList"/>
    <dgm:cxn modelId="{08C803A6-DB56-4866-A6C2-F798A29D3791}" type="presParOf" srcId="{B6EFB317-1E34-4DE2-A545-B8D727FD4ABB}" destId="{837C4AA8-B59E-4737-AA2D-6E7DF020E723}" srcOrd="2" destOrd="0" presId="urn:microsoft.com/office/officeart/2018/2/layout/IconVerticalSolidList"/>
    <dgm:cxn modelId="{05354A53-8350-4FA8-AAE0-6FAC9A2027D7}" type="presParOf" srcId="{837C4AA8-B59E-4737-AA2D-6E7DF020E723}" destId="{5748DB69-3F97-45E6-BE1A-BEEA831F4934}" srcOrd="0" destOrd="0" presId="urn:microsoft.com/office/officeart/2018/2/layout/IconVerticalSolidList"/>
    <dgm:cxn modelId="{1143CFEE-040A-4FA6-B9D8-D7A9347A4967}" type="presParOf" srcId="{837C4AA8-B59E-4737-AA2D-6E7DF020E723}" destId="{8A2B3476-E9BB-4A97-B8F8-E51FE588694D}" srcOrd="1" destOrd="0" presId="urn:microsoft.com/office/officeart/2018/2/layout/IconVerticalSolidList"/>
    <dgm:cxn modelId="{D1156146-AB03-45D9-84A5-EE5BD2637C3D}" type="presParOf" srcId="{837C4AA8-B59E-4737-AA2D-6E7DF020E723}" destId="{6F17B46A-7632-477A-8D13-AF63FC950BF8}" srcOrd="2" destOrd="0" presId="urn:microsoft.com/office/officeart/2018/2/layout/IconVerticalSolidList"/>
    <dgm:cxn modelId="{7ADF1580-0F4A-4817-AA72-1327FE25F4DE}" type="presParOf" srcId="{837C4AA8-B59E-4737-AA2D-6E7DF020E723}" destId="{1C02F350-FF7E-49DC-BCFD-16DDE8FC8E51}" srcOrd="3" destOrd="0" presId="urn:microsoft.com/office/officeart/2018/2/layout/IconVerticalSolidList"/>
    <dgm:cxn modelId="{01864F57-6B56-40A5-8B3E-0FDA44863908}" type="presParOf" srcId="{B6EFB317-1E34-4DE2-A545-B8D727FD4ABB}" destId="{FB817046-3615-45E9-BD24-2C679833CE59}" srcOrd="3" destOrd="0" presId="urn:microsoft.com/office/officeart/2018/2/layout/IconVerticalSolidList"/>
    <dgm:cxn modelId="{816A7F73-A526-4814-8281-D87E0E0D00FE}" type="presParOf" srcId="{B6EFB317-1E34-4DE2-A545-B8D727FD4ABB}" destId="{688C7509-B4D6-4A1D-A853-0DF18B777150}" srcOrd="4" destOrd="0" presId="urn:microsoft.com/office/officeart/2018/2/layout/IconVerticalSolidList"/>
    <dgm:cxn modelId="{F4465AA5-F7EF-43DA-8CBF-F7E333D180BA}" type="presParOf" srcId="{688C7509-B4D6-4A1D-A853-0DF18B777150}" destId="{4A0DCA02-1795-42E9-945D-9F8E197D4C6F}" srcOrd="0" destOrd="0" presId="urn:microsoft.com/office/officeart/2018/2/layout/IconVerticalSolidList"/>
    <dgm:cxn modelId="{AF9EEFBC-FFE6-48AE-8E0A-67D8088FBEF3}" type="presParOf" srcId="{688C7509-B4D6-4A1D-A853-0DF18B777150}" destId="{B930650D-7FFC-4CA4-B937-68B8AB5B1BF5}" srcOrd="1" destOrd="0" presId="urn:microsoft.com/office/officeart/2018/2/layout/IconVerticalSolidList"/>
    <dgm:cxn modelId="{1259A52D-EF80-4E3B-A990-3A3A843E13A0}" type="presParOf" srcId="{688C7509-B4D6-4A1D-A853-0DF18B777150}" destId="{724E50AD-49B1-48BC-AC29-28126C7FF243}" srcOrd="2" destOrd="0" presId="urn:microsoft.com/office/officeart/2018/2/layout/IconVerticalSolidList"/>
    <dgm:cxn modelId="{4D311ACE-CD98-467C-B2C7-82C61F22E0B0}" type="presParOf" srcId="{688C7509-B4D6-4A1D-A853-0DF18B777150}" destId="{9383624E-6622-4D5D-B6C1-6138971F0F5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24D8DD-F116-4596-94C8-1CDE97FF99E8}">
      <dsp:nvSpPr>
        <dsp:cNvPr id="0" name=""/>
        <dsp:cNvSpPr/>
      </dsp:nvSpPr>
      <dsp:spPr>
        <a:xfrm>
          <a:off x="0" y="361739"/>
          <a:ext cx="7690220" cy="1212473"/>
        </a:xfrm>
        <a:prstGeom prst="roundRect">
          <a:avLst>
            <a:gd name="adj" fmla="val 10000"/>
          </a:avLst>
        </a:prstGeom>
        <a:solidFill>
          <a:schemeClr val="accent1">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B2399F8B-238C-4A42-88A2-E62D48A23470}">
      <dsp:nvSpPr>
        <dsp:cNvPr id="0" name=""/>
        <dsp:cNvSpPr/>
      </dsp:nvSpPr>
      <dsp:spPr>
        <a:xfrm flipH="1" flipV="1">
          <a:off x="61459" y="486017"/>
          <a:ext cx="393" cy="283942"/>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B3B9B48A-7DA9-4552-A818-4AE53BFE02FE}">
      <dsp:nvSpPr>
        <dsp:cNvPr id="0" name=""/>
        <dsp:cNvSpPr/>
      </dsp:nvSpPr>
      <dsp:spPr>
        <a:xfrm>
          <a:off x="154754" y="361739"/>
          <a:ext cx="7535465" cy="1212473"/>
        </a:xfrm>
        <a:prstGeom prst="rect">
          <a:avLst/>
        </a:prstGeom>
        <a:solidFill>
          <a:srgbClr val="E34B7A">
            <a:tint val="40000"/>
            <a:hueOff val="0"/>
            <a:satOff val="0"/>
            <a:lumOff val="0"/>
            <a:alphaOff val="0"/>
          </a:srgb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0">
          <a:scrgbClr r="0" g="0" b="0"/>
        </a:fillRef>
        <a:effectRef idx="0">
          <a:scrgbClr r="0" g="0" b="0"/>
        </a:effectRef>
        <a:fontRef idx="minor"/>
      </dsp:style>
      <dsp:txBody>
        <a:bodyPr spcFirstLastPara="0" vert="horz" wrap="square" lIns="128320" tIns="128320" rIns="128320" bIns="128320" numCol="1" spcCol="1270" anchor="ctr" anchorCtr="0">
          <a:noAutofit/>
        </a:bodyPr>
        <a:lstStyle/>
        <a:p>
          <a:pPr marL="0" lvl="0" indent="0" algn="l" defTabSz="711200">
            <a:lnSpc>
              <a:spcPct val="100000"/>
            </a:lnSpc>
            <a:spcBef>
              <a:spcPct val="0"/>
            </a:spcBef>
            <a:spcAft>
              <a:spcPct val="35000"/>
            </a:spcAft>
            <a:buNone/>
          </a:pPr>
          <a:r>
            <a:rPr lang="en-GB" sz="1600" kern="1200" dirty="0">
              <a:latin typeface="Cambria" panose="02040503050406030204" pitchFamily="18" charset="0"/>
              <a:ea typeface="Cambria" panose="02040503050406030204" pitchFamily="18" charset="0"/>
            </a:rPr>
            <a:t>The dataset used for this analysis was gotten from Kaggle and can be downloaded via this </a:t>
          </a:r>
          <a:r>
            <a:rPr lang="en-GB" sz="1600" kern="1200" dirty="0">
              <a:latin typeface="Cambria" panose="02040503050406030204" pitchFamily="18" charset="0"/>
              <a:ea typeface="Cambria" panose="02040503050406030204" pitchFamily="18" charset="0"/>
              <a:hlinkClick xmlns:r="http://schemas.openxmlformats.org/officeDocument/2006/relationships" r:id="rId1"/>
            </a:rPr>
            <a:t>LINK</a:t>
          </a:r>
          <a:r>
            <a:rPr lang="en-GB" sz="1600" kern="1200" dirty="0">
              <a:latin typeface="Cambria" panose="02040503050406030204" pitchFamily="18" charset="0"/>
              <a:ea typeface="Cambria" panose="02040503050406030204" pitchFamily="18" charset="0"/>
            </a:rPr>
            <a:t>. It contains college students' academic records with 2000 rows and 17 columns with features such as ‘id’, ‘first name’, ‘last name’, ‘gender’, ‘part time job’, ‘extracurricular activities and scores for subjects taken by the students</a:t>
          </a:r>
          <a:r>
            <a:rPr lang="en-GB" sz="1400" kern="1200" dirty="0"/>
            <a:t>.</a:t>
          </a:r>
          <a:endParaRPr lang="en-US" sz="1400" kern="1200" dirty="0"/>
        </a:p>
      </dsp:txBody>
      <dsp:txXfrm>
        <a:off x="154754" y="361739"/>
        <a:ext cx="7535465" cy="1212473"/>
      </dsp:txXfrm>
    </dsp:sp>
    <dsp:sp modelId="{7330A549-5797-4EC3-BC52-6D1BF0F19B14}">
      <dsp:nvSpPr>
        <dsp:cNvPr id="0" name=""/>
        <dsp:cNvSpPr/>
      </dsp:nvSpPr>
      <dsp:spPr>
        <a:xfrm>
          <a:off x="0" y="1829221"/>
          <a:ext cx="7690220" cy="1212473"/>
        </a:xfrm>
        <a:prstGeom prst="roundRect">
          <a:avLst>
            <a:gd name="adj" fmla="val 10000"/>
          </a:avLst>
        </a:prstGeom>
        <a:solidFill>
          <a:srgbClr val="E34B7A">
            <a:tint val="40000"/>
            <a:hueOff val="0"/>
            <a:satOff val="0"/>
            <a:lumOff val="0"/>
            <a:alphaOff val="0"/>
          </a:srgb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60B85E64-2A2D-44E0-8787-47C4D99DFED7}">
      <dsp:nvSpPr>
        <dsp:cNvPr id="0" name=""/>
        <dsp:cNvSpPr/>
      </dsp:nvSpPr>
      <dsp:spPr>
        <a:xfrm rot="15576029" flipV="1">
          <a:off x="48683" y="2452793"/>
          <a:ext cx="24508" cy="28565"/>
        </a:xfrm>
        <a:prstGeom prst="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527C94A0-2C2C-4C76-A431-DEB9DA8E2700}">
      <dsp:nvSpPr>
        <dsp:cNvPr id="0" name=""/>
        <dsp:cNvSpPr/>
      </dsp:nvSpPr>
      <dsp:spPr>
        <a:xfrm>
          <a:off x="172057" y="1864225"/>
          <a:ext cx="7518133" cy="12124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320" tIns="128320" rIns="128320" bIns="128320"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Cambria" panose="02040503050406030204" pitchFamily="18" charset="0"/>
              <a:ea typeface="Cambria" panose="02040503050406030204" pitchFamily="18" charset="0"/>
            </a:rPr>
            <a:t>This analysis was performed using python programming  to load, clean, transform and analyze the data to generate insights with common python libraries such as NumPy, Pandas, Matplotlib and Seaborn</a:t>
          </a:r>
          <a:r>
            <a:rPr lang="en-US" sz="1600" b="1" kern="1200" dirty="0">
              <a:latin typeface="Cambria" panose="02040503050406030204" pitchFamily="18" charset="0"/>
              <a:ea typeface="Cambria" panose="02040503050406030204" pitchFamily="18" charset="0"/>
            </a:rPr>
            <a:t>.</a:t>
          </a:r>
          <a:endParaRPr lang="en-US" sz="1600" kern="1200" dirty="0">
            <a:latin typeface="Cambria" panose="02040503050406030204" pitchFamily="18" charset="0"/>
            <a:ea typeface="Cambria" panose="02040503050406030204" pitchFamily="18" charset="0"/>
          </a:endParaRPr>
        </a:p>
      </dsp:txBody>
      <dsp:txXfrm>
        <a:off x="172057" y="1864225"/>
        <a:ext cx="7518133" cy="121247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148971-026C-4ADB-BE29-3661025A7E37}">
      <dsp:nvSpPr>
        <dsp:cNvPr id="0" name=""/>
        <dsp:cNvSpPr/>
      </dsp:nvSpPr>
      <dsp:spPr>
        <a:xfrm>
          <a:off x="0" y="2723"/>
          <a:ext cx="10058399" cy="858849"/>
        </a:xfrm>
        <a:prstGeom prst="roundRect">
          <a:avLst>
            <a:gd name="adj" fmla="val 10000"/>
          </a:avLst>
        </a:prstGeom>
        <a:solidFill>
          <a:schemeClr val="accent1">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384DC3CA-D2BD-4D80-A64F-B88471FA5BEB}">
      <dsp:nvSpPr>
        <dsp:cNvPr id="0" name=""/>
        <dsp:cNvSpPr/>
      </dsp:nvSpPr>
      <dsp:spPr>
        <a:xfrm>
          <a:off x="259802" y="195964"/>
          <a:ext cx="472829" cy="47236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C7FE55DE-E01C-4970-8A33-9D1FF20AA32B}">
      <dsp:nvSpPr>
        <dsp:cNvPr id="0" name=""/>
        <dsp:cNvSpPr/>
      </dsp:nvSpPr>
      <dsp:spPr>
        <a:xfrm>
          <a:off x="992433" y="2723"/>
          <a:ext cx="9027083" cy="859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84" tIns="90984" rIns="90984" bIns="90984" numCol="1" spcCol="1270" anchor="ctr" anchorCtr="0">
          <a:noAutofit/>
        </a:bodyPr>
        <a:lstStyle/>
        <a:p>
          <a:pPr marL="0" lvl="0" indent="0" algn="l" defTabSz="711200">
            <a:lnSpc>
              <a:spcPct val="100000"/>
            </a:lnSpc>
            <a:spcBef>
              <a:spcPct val="0"/>
            </a:spcBef>
            <a:spcAft>
              <a:spcPct val="35000"/>
            </a:spcAft>
            <a:buNone/>
          </a:pPr>
          <a:r>
            <a:rPr lang="en-US" sz="1600" kern="1200" dirty="0">
              <a:latin typeface="Cambria" panose="02040503050406030204" pitchFamily="18" charset="0"/>
              <a:ea typeface="Cambria" panose="02040503050406030204" pitchFamily="18" charset="0"/>
            </a:rPr>
            <a:t>As </a:t>
          </a:r>
          <a:r>
            <a:rPr lang="en-GB" sz="1600" kern="1200" dirty="0">
              <a:latin typeface="Cambria" panose="02040503050406030204" pitchFamily="18" charset="0"/>
              <a:ea typeface="Cambria" panose="02040503050406030204" pitchFamily="18" charset="0"/>
            </a:rPr>
            <a:t>self-study and class attendance appear to be strongest predictors of academic success, students should prioritize regular class attendance and dedicate consistent time to personal study.</a:t>
          </a:r>
          <a:endParaRPr lang="en-US" sz="1600" kern="1200" dirty="0">
            <a:latin typeface="Cambria" panose="02040503050406030204" pitchFamily="18" charset="0"/>
            <a:ea typeface="Cambria" panose="02040503050406030204" pitchFamily="18" charset="0"/>
          </a:endParaRPr>
        </a:p>
      </dsp:txBody>
      <dsp:txXfrm>
        <a:off x="992433" y="2723"/>
        <a:ext cx="9027083" cy="859689"/>
      </dsp:txXfrm>
    </dsp:sp>
    <dsp:sp modelId="{5748DB69-3F97-45E6-BE1A-BEEA831F4934}">
      <dsp:nvSpPr>
        <dsp:cNvPr id="0" name=""/>
        <dsp:cNvSpPr/>
      </dsp:nvSpPr>
      <dsp:spPr>
        <a:xfrm>
          <a:off x="0" y="1070822"/>
          <a:ext cx="10058399" cy="858849"/>
        </a:xfrm>
        <a:prstGeom prst="roundRect">
          <a:avLst>
            <a:gd name="adj" fmla="val 10000"/>
          </a:avLst>
        </a:prstGeom>
        <a:solidFill>
          <a:schemeClr val="accent1">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8A2B3476-E9BB-4A97-B8F8-E51FE588694D}">
      <dsp:nvSpPr>
        <dsp:cNvPr id="0" name=""/>
        <dsp:cNvSpPr/>
      </dsp:nvSpPr>
      <dsp:spPr>
        <a:xfrm>
          <a:off x="259802" y="1264063"/>
          <a:ext cx="472829" cy="47236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1C02F350-FF7E-49DC-BCFD-16DDE8FC8E51}">
      <dsp:nvSpPr>
        <dsp:cNvPr id="0" name=""/>
        <dsp:cNvSpPr/>
      </dsp:nvSpPr>
      <dsp:spPr>
        <a:xfrm>
          <a:off x="992433" y="1070822"/>
          <a:ext cx="9027083" cy="859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84" tIns="90984" rIns="90984" bIns="90984" numCol="1" spcCol="1270" anchor="ctr" anchorCtr="0">
          <a:noAutofit/>
        </a:bodyPr>
        <a:lstStyle/>
        <a:p>
          <a:pPr marL="0" lvl="0" indent="0" algn="l" defTabSz="711200">
            <a:lnSpc>
              <a:spcPct val="100000"/>
            </a:lnSpc>
            <a:spcBef>
              <a:spcPct val="0"/>
            </a:spcBef>
            <a:spcAft>
              <a:spcPct val="35000"/>
            </a:spcAft>
            <a:buNone/>
          </a:pPr>
          <a:r>
            <a:rPr lang="en-GB" sz="1600" kern="1200" dirty="0">
              <a:latin typeface="Cambria" panose="02040503050406030204" pitchFamily="18" charset="0"/>
              <a:ea typeface="Cambria" panose="02040503050406030204" pitchFamily="18" charset="0"/>
            </a:rPr>
            <a:t>The school should encourage students’ participation in extracurricular activities because of the benefits it offers in developing cognitive skills that can help in overall academic performance. This however should be balanced with teaching the students time management skills.</a:t>
          </a:r>
          <a:endParaRPr lang="en-US" sz="1600" kern="1200" dirty="0">
            <a:latin typeface="Cambria" panose="02040503050406030204" pitchFamily="18" charset="0"/>
            <a:ea typeface="Cambria" panose="02040503050406030204" pitchFamily="18" charset="0"/>
          </a:endParaRPr>
        </a:p>
      </dsp:txBody>
      <dsp:txXfrm>
        <a:off x="992433" y="1070822"/>
        <a:ext cx="9027083" cy="859689"/>
      </dsp:txXfrm>
    </dsp:sp>
    <dsp:sp modelId="{4A0DCA02-1795-42E9-945D-9F8E197D4C6F}">
      <dsp:nvSpPr>
        <dsp:cNvPr id="0" name=""/>
        <dsp:cNvSpPr/>
      </dsp:nvSpPr>
      <dsp:spPr>
        <a:xfrm>
          <a:off x="0" y="2138921"/>
          <a:ext cx="10058399" cy="858849"/>
        </a:xfrm>
        <a:prstGeom prst="roundRect">
          <a:avLst>
            <a:gd name="adj" fmla="val 10000"/>
          </a:avLst>
        </a:prstGeom>
        <a:solidFill>
          <a:schemeClr val="accent1">
            <a:tint val="40000"/>
            <a:hueOff val="0"/>
            <a:satOff val="0"/>
            <a:lumOff val="0"/>
            <a:alphaOff val="0"/>
          </a:schemeClr>
        </a:solidFill>
        <a:ln>
          <a:noFill/>
        </a:ln>
        <a:effectLst/>
        <a:scene3d>
          <a:camera prst="orthographicFront"/>
          <a:lightRig rig="chilly" dir="t"/>
        </a:scene3d>
        <a:sp3d z="-12700" extrusionH="1700" prstMaterial="translucentPowder">
          <a:bevelT w="25400" h="6350" prst="softRound"/>
          <a:bevelB w="0" h="0" prst="convex"/>
        </a:sp3d>
      </dsp:spPr>
      <dsp:style>
        <a:lnRef idx="0">
          <a:scrgbClr r="0" g="0" b="0"/>
        </a:lnRef>
        <a:fillRef idx="1">
          <a:scrgbClr r="0" g="0" b="0"/>
        </a:fillRef>
        <a:effectRef idx="0">
          <a:scrgbClr r="0" g="0" b="0"/>
        </a:effectRef>
        <a:fontRef idx="minor"/>
      </dsp:style>
    </dsp:sp>
    <dsp:sp modelId="{B930650D-7FFC-4CA4-B937-68B8AB5B1BF5}">
      <dsp:nvSpPr>
        <dsp:cNvPr id="0" name=""/>
        <dsp:cNvSpPr/>
      </dsp:nvSpPr>
      <dsp:spPr>
        <a:xfrm>
          <a:off x="259802" y="2332162"/>
          <a:ext cx="472829" cy="47236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sp>
    <dsp:sp modelId="{9383624E-6622-4D5D-B6C1-6138971F0F54}">
      <dsp:nvSpPr>
        <dsp:cNvPr id="0" name=""/>
        <dsp:cNvSpPr/>
      </dsp:nvSpPr>
      <dsp:spPr>
        <a:xfrm>
          <a:off x="992433" y="2138921"/>
          <a:ext cx="9027083" cy="859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0984" tIns="90984" rIns="90984" bIns="90984" numCol="1" spcCol="1270" anchor="ctr" anchorCtr="0">
          <a:noAutofit/>
        </a:bodyPr>
        <a:lstStyle/>
        <a:p>
          <a:pPr marL="0" lvl="0" indent="0" algn="l" defTabSz="711200">
            <a:lnSpc>
              <a:spcPct val="100000"/>
            </a:lnSpc>
            <a:spcBef>
              <a:spcPct val="0"/>
            </a:spcBef>
            <a:spcAft>
              <a:spcPct val="35000"/>
            </a:spcAft>
            <a:buNone/>
          </a:pPr>
          <a:r>
            <a:rPr lang="en-NG" sz="1600" b="0" i="0" kern="1200" baseline="0" dirty="0">
              <a:latin typeface="Cambria" panose="02040503050406030204" pitchFamily="18" charset="0"/>
              <a:ea typeface="Cambria" panose="02040503050406030204" pitchFamily="18" charset="0"/>
            </a:rPr>
            <a:t>Indigen</a:t>
          </a:r>
          <a:r>
            <a:rPr lang="en-US" sz="1600" b="0" i="0" kern="1200" baseline="0" dirty="0">
              <a:latin typeface="Cambria" panose="02040503050406030204" pitchFamily="18" charset="0"/>
              <a:ea typeface="Cambria" panose="02040503050406030204" pitchFamily="18" charset="0"/>
            </a:rPr>
            <a:t>t</a:t>
          </a:r>
          <a:r>
            <a:rPr lang="en-NG" sz="1600" b="0" i="0" kern="1200" baseline="0" dirty="0">
              <a:latin typeface="Cambria" panose="02040503050406030204" pitchFamily="18" charset="0"/>
              <a:ea typeface="Cambria" panose="02040503050406030204" pitchFamily="18" charset="0"/>
            </a:rPr>
            <a:t> students needing financial support </a:t>
          </a:r>
          <a:r>
            <a:rPr lang="en-US" sz="1600" b="0" i="0" kern="1200" baseline="0" dirty="0">
              <a:latin typeface="Cambria" panose="02040503050406030204" pitchFamily="18" charset="0"/>
              <a:ea typeface="Cambria" panose="02040503050406030204" pitchFamily="18" charset="0"/>
            </a:rPr>
            <a:t>can</a:t>
          </a:r>
          <a:r>
            <a:rPr lang="en-NG" sz="1600" b="0" i="0" kern="1200" baseline="0" dirty="0">
              <a:latin typeface="Cambria" panose="02040503050406030204" pitchFamily="18" charset="0"/>
              <a:ea typeface="Cambria" panose="02040503050406030204" pitchFamily="18" charset="0"/>
            </a:rPr>
            <a:t> be encouraged to </a:t>
          </a:r>
          <a:r>
            <a:rPr lang="en-US" sz="1600" b="0" i="0" kern="1200" baseline="0" dirty="0">
              <a:latin typeface="Cambria" panose="02040503050406030204" pitchFamily="18" charset="0"/>
              <a:ea typeface="Cambria" panose="02040503050406030204" pitchFamily="18" charset="0"/>
            </a:rPr>
            <a:t>engage in part time jobs</a:t>
          </a:r>
          <a:r>
            <a:rPr lang="en-NG" sz="1600" b="0" i="0" kern="1200" baseline="0" dirty="0">
              <a:latin typeface="Cambria" panose="02040503050406030204" pitchFamily="18" charset="0"/>
              <a:ea typeface="Cambria" panose="02040503050406030204" pitchFamily="18" charset="0"/>
            </a:rPr>
            <a:t> with proper planning and time management. Non-indigen</a:t>
          </a:r>
          <a:r>
            <a:rPr lang="en-US" sz="1600" b="0" i="0" kern="1200" baseline="0" dirty="0">
              <a:latin typeface="Cambria" panose="02040503050406030204" pitchFamily="18" charset="0"/>
              <a:ea typeface="Cambria" panose="02040503050406030204" pitchFamily="18" charset="0"/>
            </a:rPr>
            <a:t>t</a:t>
          </a:r>
          <a:r>
            <a:rPr lang="en-NG" sz="1600" b="0" i="0" kern="1200" baseline="0" dirty="0">
              <a:latin typeface="Cambria" panose="02040503050406030204" pitchFamily="18" charset="0"/>
              <a:ea typeface="Cambria" panose="02040503050406030204" pitchFamily="18" charset="0"/>
            </a:rPr>
            <a:t> students, however, should focus fully on their studies for better academic outcomes.</a:t>
          </a:r>
          <a:endParaRPr lang="en-US" sz="1600" kern="1200" dirty="0">
            <a:latin typeface="Cambria" panose="02040503050406030204" pitchFamily="18" charset="0"/>
            <a:ea typeface="Cambria" panose="02040503050406030204" pitchFamily="18" charset="0"/>
          </a:endParaRPr>
        </a:p>
      </dsp:txBody>
      <dsp:txXfrm>
        <a:off x="992433" y="2138921"/>
        <a:ext cx="9027083" cy="85968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0D9D34-89EE-4A07-96A9-B76144EDE22C}" type="datetimeFigureOut">
              <a:rPr lang="en-NG" smtClean="0"/>
              <a:t>04/04/2025</a:t>
            </a:fld>
            <a:endParaRPr lang="en-N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05D6BD0-3BF9-44D8-BEFC-70849F68992E}" type="slidenum">
              <a:rPr lang="en-NG" smtClean="0"/>
              <a:t>‹#›</a:t>
            </a:fld>
            <a:endParaRPr lang="en-NG"/>
          </a:p>
        </p:txBody>
      </p:sp>
    </p:spTree>
    <p:extLst>
      <p:ext uri="{BB962C8B-B14F-4D97-AF65-F5344CB8AC3E}">
        <p14:creationId xmlns:p14="http://schemas.microsoft.com/office/powerpoint/2010/main" val="3625458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305D6BD0-3BF9-44D8-BEFC-70849F68992E}" type="slidenum">
              <a:rPr lang="en-NG" smtClean="0"/>
              <a:t>1</a:t>
            </a:fld>
            <a:endParaRPr lang="en-NG"/>
          </a:p>
        </p:txBody>
      </p:sp>
    </p:spTree>
    <p:extLst>
      <p:ext uri="{BB962C8B-B14F-4D97-AF65-F5344CB8AC3E}">
        <p14:creationId xmlns:p14="http://schemas.microsoft.com/office/powerpoint/2010/main" val="9937268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305D6BD0-3BF9-44D8-BEFC-70849F68992E}" type="slidenum">
              <a:rPr lang="en-NG" smtClean="0"/>
              <a:t>2</a:t>
            </a:fld>
            <a:endParaRPr lang="en-NG"/>
          </a:p>
        </p:txBody>
      </p:sp>
    </p:spTree>
    <p:extLst>
      <p:ext uri="{BB962C8B-B14F-4D97-AF65-F5344CB8AC3E}">
        <p14:creationId xmlns:p14="http://schemas.microsoft.com/office/powerpoint/2010/main" val="31524221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G" dirty="0"/>
          </a:p>
        </p:txBody>
      </p:sp>
      <p:sp>
        <p:nvSpPr>
          <p:cNvPr id="4" name="Slide Number Placeholder 3"/>
          <p:cNvSpPr>
            <a:spLocks noGrp="1"/>
          </p:cNvSpPr>
          <p:nvPr>
            <p:ph type="sldNum" sz="quarter" idx="5"/>
          </p:nvPr>
        </p:nvSpPr>
        <p:spPr/>
        <p:txBody>
          <a:bodyPr/>
          <a:lstStyle/>
          <a:p>
            <a:fld id="{305D6BD0-3BF9-44D8-BEFC-70849F68992E}" type="slidenum">
              <a:rPr lang="en-NG" smtClean="0"/>
              <a:t>4</a:t>
            </a:fld>
            <a:endParaRPr lang="en-NG"/>
          </a:p>
        </p:txBody>
      </p:sp>
    </p:spTree>
    <p:extLst>
      <p:ext uri="{BB962C8B-B14F-4D97-AF65-F5344CB8AC3E}">
        <p14:creationId xmlns:p14="http://schemas.microsoft.com/office/powerpoint/2010/main" val="27796966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10C8043-B635-482B-8E87-0AEE3A05767B}" type="datetimeFigureOut">
              <a:rPr lang="en-NG" smtClean="0"/>
              <a:t>04/04/2025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3968522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0C8043-B635-482B-8E87-0AEE3A05767B}" type="datetimeFigureOut">
              <a:rPr lang="en-NG" smtClean="0"/>
              <a:t>04/04/2025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23908310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10C8043-B635-482B-8E87-0AEE3A05767B}" type="datetimeFigureOut">
              <a:rPr lang="en-NG" smtClean="0"/>
              <a:t>04/04/2025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16743805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10C8043-B635-482B-8E87-0AEE3A05767B}" type="datetimeFigureOut">
              <a:rPr lang="en-NG" smtClean="0"/>
              <a:t>04/04/2025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32004637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10C8043-B635-482B-8E87-0AEE3A05767B}" type="datetimeFigureOut">
              <a:rPr lang="en-NG" smtClean="0"/>
              <a:t>04/04/2025</a:t>
            </a:fld>
            <a:endParaRPr lang="en-NG"/>
          </a:p>
        </p:txBody>
      </p:sp>
      <p:sp>
        <p:nvSpPr>
          <p:cNvPr id="8" name="Footer Placeholder 7"/>
          <p:cNvSpPr>
            <a:spLocks noGrp="1"/>
          </p:cNvSpPr>
          <p:nvPr>
            <p:ph type="ftr" sz="quarter" idx="11"/>
          </p:nvPr>
        </p:nvSpPr>
        <p:spPr/>
        <p:txBody>
          <a:bodyPr/>
          <a:lstStyle/>
          <a:p>
            <a:endParaRPr lang="en-NG"/>
          </a:p>
        </p:txBody>
      </p:sp>
      <p:sp>
        <p:nvSpPr>
          <p:cNvPr id="9" name="Slide Number Placeholder 8"/>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10237905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10C8043-B635-482B-8E87-0AEE3A05767B}" type="datetimeFigureOut">
              <a:rPr lang="en-NG" smtClean="0"/>
              <a:t>04/04/2025</a:t>
            </a:fld>
            <a:endParaRPr lang="en-NG"/>
          </a:p>
        </p:txBody>
      </p:sp>
      <p:sp>
        <p:nvSpPr>
          <p:cNvPr id="4" name="Footer Placeholder 3"/>
          <p:cNvSpPr>
            <a:spLocks noGrp="1"/>
          </p:cNvSpPr>
          <p:nvPr>
            <p:ph type="ftr" sz="quarter" idx="11"/>
          </p:nvPr>
        </p:nvSpPr>
        <p:spPr/>
        <p:txBody>
          <a:bodyPr/>
          <a:lstStyle/>
          <a:p>
            <a:endParaRPr lang="en-NG"/>
          </a:p>
        </p:txBody>
      </p:sp>
      <p:sp>
        <p:nvSpPr>
          <p:cNvPr id="5" name="Slide Number Placeholder 4"/>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3041281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C10C8043-B635-482B-8E87-0AEE3A05767B}" type="datetimeFigureOut">
              <a:rPr lang="en-NG" smtClean="0"/>
              <a:t>04/04/2025</a:t>
            </a:fld>
            <a:endParaRPr lang="en-NG"/>
          </a:p>
        </p:txBody>
      </p:sp>
      <p:sp>
        <p:nvSpPr>
          <p:cNvPr id="3" name="Footer Placeholder 2"/>
          <p:cNvSpPr>
            <a:spLocks noGrp="1"/>
          </p:cNvSpPr>
          <p:nvPr>
            <p:ph type="ftr" sz="quarter" idx="11"/>
          </p:nvPr>
        </p:nvSpPr>
        <p:spPr/>
        <p:txBody>
          <a:bodyPr/>
          <a:lstStyle/>
          <a:p>
            <a:endParaRPr lang="en-NG"/>
          </a:p>
        </p:txBody>
      </p:sp>
      <p:sp>
        <p:nvSpPr>
          <p:cNvPr id="4" name="Slide Number Placeholder 3"/>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3928238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0C8043-B635-482B-8E87-0AEE3A05767B}" type="datetimeFigureOut">
              <a:rPr lang="en-NG" smtClean="0"/>
              <a:t>04/04/2025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42058802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0C8043-B635-482B-8E87-0AEE3A05767B}" type="datetimeFigureOut">
              <a:rPr lang="en-NG" smtClean="0"/>
              <a:t>04/04/2025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1260836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0C8043-B635-482B-8E87-0AEE3A05767B}" type="datetimeFigureOut">
              <a:rPr lang="en-NG" smtClean="0"/>
              <a:t>04/04/2025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3592622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0C8043-B635-482B-8E87-0AEE3A05767B}" type="datetimeFigureOut">
              <a:rPr lang="en-NG" smtClean="0"/>
              <a:t>04/04/2025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2204935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0C8043-B635-482B-8E87-0AEE3A05767B}" type="datetimeFigureOut">
              <a:rPr lang="en-NG" smtClean="0"/>
              <a:t>04/04/2025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85C14FC4-9EB9-428C-B706-C6FF9CD6876D}" type="slidenum">
              <a:rPr lang="en-NG" smtClean="0"/>
              <a:t>‹#›</a:t>
            </a:fld>
            <a:endParaRPr lang="en-NG"/>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109810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10C8043-B635-482B-8E87-0AEE3A05767B}" type="datetimeFigureOut">
              <a:rPr lang="en-NG" smtClean="0"/>
              <a:t>04/04/2025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6923071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10C8043-B635-482B-8E87-0AEE3A05767B}" type="datetimeFigureOut">
              <a:rPr lang="en-NG" smtClean="0"/>
              <a:t>04/04/2025</a:t>
            </a:fld>
            <a:endParaRPr lang="en-NG"/>
          </a:p>
        </p:txBody>
      </p:sp>
      <p:sp>
        <p:nvSpPr>
          <p:cNvPr id="4" name="Footer Placeholder 3"/>
          <p:cNvSpPr>
            <a:spLocks noGrp="1"/>
          </p:cNvSpPr>
          <p:nvPr>
            <p:ph type="ftr" sz="quarter" idx="11"/>
          </p:nvPr>
        </p:nvSpPr>
        <p:spPr/>
        <p:txBody>
          <a:bodyPr/>
          <a:lstStyle/>
          <a:p>
            <a:endParaRPr lang="en-NG"/>
          </a:p>
        </p:txBody>
      </p:sp>
      <p:sp>
        <p:nvSpPr>
          <p:cNvPr id="5" name="Slide Number Placeholder 4"/>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374524230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10C8043-B635-482B-8E87-0AEE3A05767B}" type="datetimeFigureOut">
              <a:rPr lang="en-NG" smtClean="0"/>
              <a:t>04/04/2025</a:t>
            </a:fld>
            <a:endParaRPr lang="en-NG"/>
          </a:p>
        </p:txBody>
      </p:sp>
      <p:sp>
        <p:nvSpPr>
          <p:cNvPr id="4" name="Footer Placeholder 3"/>
          <p:cNvSpPr>
            <a:spLocks noGrp="1"/>
          </p:cNvSpPr>
          <p:nvPr>
            <p:ph type="ftr" sz="quarter" idx="11"/>
          </p:nvPr>
        </p:nvSpPr>
        <p:spPr/>
        <p:txBody>
          <a:bodyPr/>
          <a:lstStyle/>
          <a:p>
            <a:endParaRPr lang="en-NG"/>
          </a:p>
        </p:txBody>
      </p:sp>
      <p:sp>
        <p:nvSpPr>
          <p:cNvPr id="5" name="Slide Number Placeholder 4"/>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12761476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0C8043-B635-482B-8E87-0AEE3A05767B}" type="datetimeFigureOut">
              <a:rPr lang="en-NG" smtClean="0"/>
              <a:t>04/04/2025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7395150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0C8043-B635-482B-8E87-0AEE3A05767B}" type="datetimeFigureOut">
              <a:rPr lang="en-NG" smtClean="0"/>
              <a:t>04/04/2025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5C14FC4-9EB9-428C-B706-C6FF9CD6876D}" type="slidenum">
              <a:rPr lang="en-NG" smtClean="0"/>
              <a:t>‹#›</a:t>
            </a:fld>
            <a:endParaRPr lang="en-NG"/>
          </a:p>
        </p:txBody>
      </p:sp>
    </p:spTree>
    <p:extLst>
      <p:ext uri="{BB962C8B-B14F-4D97-AF65-F5344CB8AC3E}">
        <p14:creationId xmlns:p14="http://schemas.microsoft.com/office/powerpoint/2010/main" val="34702568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C10C8043-B635-482B-8E87-0AEE3A05767B}" type="datetimeFigureOut">
              <a:rPr lang="en-NG" smtClean="0"/>
              <a:t>04/04/2025</a:t>
            </a:fld>
            <a:endParaRPr lang="en-NG"/>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NG"/>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85C14FC4-9EB9-428C-B706-C6FF9CD6876D}" type="slidenum">
              <a:rPr lang="en-NG" smtClean="0"/>
              <a:t>‹#›</a:t>
            </a:fld>
            <a:endParaRPr lang="en-NG"/>
          </a:p>
        </p:txBody>
      </p:sp>
    </p:spTree>
    <p:extLst>
      <p:ext uri="{BB962C8B-B14F-4D97-AF65-F5344CB8AC3E}">
        <p14:creationId xmlns:p14="http://schemas.microsoft.com/office/powerpoint/2010/main" val="2140012990"/>
      </p:ext>
    </p:extLst>
  </p:cSld>
  <p:clrMap bg1="lt1" tx1="dk1" bg2="lt2" tx2="dk2" accent1="accent1" accent2="accent2" accent3="accent3" accent4="accent4" accent5="accent5" accent6="accent6" hlink="hlink" folHlink="folHlink"/>
  <p:sldLayoutIdLst>
    <p:sldLayoutId id="2147483967" r:id="rId1"/>
    <p:sldLayoutId id="2147483968" r:id="rId2"/>
    <p:sldLayoutId id="2147483969" r:id="rId3"/>
    <p:sldLayoutId id="2147483970" r:id="rId4"/>
    <p:sldLayoutId id="2147483971" r:id="rId5"/>
    <p:sldLayoutId id="2147483972" r:id="rId6"/>
    <p:sldLayoutId id="2147483973" r:id="rId7"/>
    <p:sldLayoutId id="2147483974" r:id="rId8"/>
    <p:sldLayoutId id="2147483975" r:id="rId9"/>
    <p:sldLayoutId id="2147483976" r:id="rId10"/>
    <p:sldLayoutId id="2147483977" r:id="rId11"/>
    <p:sldLayoutId id="2147483978" r:id="rId12"/>
    <p:sldLayoutId id="2147483979" r:id="rId13"/>
    <p:sldLayoutId id="2147483980" r:id="rId14"/>
    <p:sldLayoutId id="2147483981" r:id="rId15"/>
    <p:sldLayoutId id="2147483982" r:id="rId16"/>
    <p:sldLayoutId id="2147483983" r:id="rId17"/>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4.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1.xml"/><Relationship Id="rId3" Type="http://schemas.openxmlformats.org/officeDocument/2006/relationships/image" Target="../media/image2.png"/><Relationship Id="rId7" Type="http://schemas.openxmlformats.org/officeDocument/2006/relationships/image" Target="../media/image7.png"/><Relationship Id="rId12"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svg"/><Relationship Id="rId11" Type="http://schemas.openxmlformats.org/officeDocument/2006/relationships/diagramColors" Target="../diagrams/colors1.xml"/><Relationship Id="rId5" Type="http://schemas.openxmlformats.org/officeDocument/2006/relationships/image" Target="../media/image5.png"/><Relationship Id="rId10" Type="http://schemas.openxmlformats.org/officeDocument/2006/relationships/diagramQuickStyle" Target="../diagrams/quickStyle1.xml"/><Relationship Id="rId4" Type="http://schemas.openxmlformats.org/officeDocument/2006/relationships/image" Target="../media/image3.png"/><Relationship Id="rId9"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microsoft.com/office/2007/relationships/hdphoto" Target="../media/hdphoto4.wdp"/><Relationship Id="rId5" Type="http://schemas.openxmlformats.org/officeDocument/2006/relationships/image" Target="../media/image11.png"/><Relationship Id="rId4" Type="http://schemas.microsoft.com/office/2007/relationships/hdphoto" Target="../media/hdphoto3.wdp"/></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4.xml"/><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sp useBgFill="1">
        <p:nvSpPr>
          <p:cNvPr id="46" name="Rectangle 45">
            <a:extLst>
              <a:ext uri="{FF2B5EF4-FFF2-40B4-BE49-F238E27FC236}">
                <a16:creationId xmlns:a16="http://schemas.microsoft.com/office/drawing/2014/main" id="{36D9B8C2-5259-4EE4-AB6B-862DB1DFF8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7" name="Picture 2">
            <a:extLst>
              <a:ext uri="{FF2B5EF4-FFF2-40B4-BE49-F238E27FC236}">
                <a16:creationId xmlns:a16="http://schemas.microsoft.com/office/drawing/2014/main" id="{85DE3DFE-A7C8-4919-A2E6-8127463D591E}"/>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F85E5FA7-2758-4E06-9126-C14B9DEE448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Subtitle 2">
            <a:extLst>
              <a:ext uri="{FF2B5EF4-FFF2-40B4-BE49-F238E27FC236}">
                <a16:creationId xmlns:a16="http://schemas.microsoft.com/office/drawing/2014/main" id="{476C24AF-2A6C-9C82-4620-FF58F1BCB579}"/>
              </a:ext>
            </a:extLst>
          </p:cNvPr>
          <p:cNvSpPr>
            <a:spLocks noGrp="1"/>
          </p:cNvSpPr>
          <p:nvPr>
            <p:ph type="subTitle" idx="1"/>
          </p:nvPr>
        </p:nvSpPr>
        <p:spPr>
          <a:xfrm>
            <a:off x="981075" y="4766080"/>
            <a:ext cx="5614602" cy="1715043"/>
          </a:xfrm>
        </p:spPr>
        <p:txBody>
          <a:bodyPr>
            <a:normAutofit/>
          </a:bodyPr>
          <a:lstStyle/>
          <a:p>
            <a:pPr>
              <a:lnSpc>
                <a:spcPct val="100000"/>
              </a:lnSpc>
              <a:spcBef>
                <a:spcPts val="0"/>
              </a:spcBef>
            </a:pPr>
            <a:r>
              <a:rPr lang="en-US" i="1" cap="none" dirty="0">
                <a:solidFill>
                  <a:schemeClr val="tx1"/>
                </a:solidFill>
                <a:latin typeface="Cambria" panose="02040503050406030204" pitchFamily="18" charset="0"/>
                <a:ea typeface="Cambria" panose="02040503050406030204" pitchFamily="18" charset="0"/>
              </a:rPr>
              <a:t>Adenike Awotunde</a:t>
            </a:r>
          </a:p>
          <a:p>
            <a:pPr>
              <a:lnSpc>
                <a:spcPct val="100000"/>
              </a:lnSpc>
              <a:spcBef>
                <a:spcPts val="0"/>
              </a:spcBef>
            </a:pPr>
            <a:r>
              <a:rPr lang="en-US" i="1" cap="none" dirty="0">
                <a:solidFill>
                  <a:schemeClr val="tx1"/>
                </a:solidFill>
                <a:latin typeface="Cambria" panose="02040503050406030204" pitchFamily="18" charset="0"/>
                <a:ea typeface="Cambria" panose="02040503050406030204" pitchFamily="18" charset="0"/>
              </a:rPr>
              <a:t>April 2025</a:t>
            </a:r>
            <a:r>
              <a:rPr lang="en-US" cap="none" dirty="0">
                <a:latin typeface="Cambria" panose="02040503050406030204" pitchFamily="18" charset="0"/>
                <a:ea typeface="Cambria" panose="02040503050406030204" pitchFamily="18" charset="0"/>
              </a:rPr>
              <a:t>.</a:t>
            </a:r>
            <a:endParaRPr lang="en-NG" cap="none" dirty="0">
              <a:latin typeface="Cambria" panose="02040503050406030204" pitchFamily="18" charset="0"/>
              <a:ea typeface="Cambria" panose="02040503050406030204" pitchFamily="18" charset="0"/>
            </a:endParaRPr>
          </a:p>
        </p:txBody>
      </p:sp>
      <p:sp>
        <p:nvSpPr>
          <p:cNvPr id="2" name="Title 1">
            <a:extLst>
              <a:ext uri="{FF2B5EF4-FFF2-40B4-BE49-F238E27FC236}">
                <a16:creationId xmlns:a16="http://schemas.microsoft.com/office/drawing/2014/main" id="{E9F6B419-3476-8C13-B842-814375B8CF13}"/>
              </a:ext>
            </a:extLst>
          </p:cNvPr>
          <p:cNvSpPr>
            <a:spLocks noGrp="1"/>
          </p:cNvSpPr>
          <p:nvPr>
            <p:ph type="ctrTitle"/>
          </p:nvPr>
        </p:nvSpPr>
        <p:spPr>
          <a:xfrm>
            <a:off x="998265" y="525963"/>
            <a:ext cx="5831174" cy="3131913"/>
          </a:xfrm>
        </p:spPr>
        <p:txBody>
          <a:bodyPr>
            <a:normAutofit/>
          </a:bodyPr>
          <a:lstStyle/>
          <a:p>
            <a:r>
              <a:rPr lang="en-US" sz="4400" b="1" cap="none" dirty="0">
                <a:latin typeface="Cambria" panose="02040503050406030204" pitchFamily="18" charset="0"/>
                <a:ea typeface="Cambria" panose="02040503050406030204" pitchFamily="18" charset="0"/>
              </a:rPr>
              <a:t>A Multi-Factor Data Analysis of Students’ Academic Performance</a:t>
            </a:r>
            <a:endParaRPr lang="en-NG" sz="4400" b="1" cap="none" dirty="0">
              <a:latin typeface="Cambria" panose="02040503050406030204" pitchFamily="18" charset="0"/>
              <a:ea typeface="Cambria" panose="02040503050406030204" pitchFamily="18" charset="0"/>
            </a:endParaRPr>
          </a:p>
        </p:txBody>
      </p:sp>
      <p:pic>
        <p:nvPicPr>
          <p:cNvPr id="6" name="Picture 5">
            <a:extLst>
              <a:ext uri="{FF2B5EF4-FFF2-40B4-BE49-F238E27FC236}">
                <a16:creationId xmlns:a16="http://schemas.microsoft.com/office/drawing/2014/main" id="{C2CEFE8D-59D1-7981-F2D6-D3CBA9FAA824}"/>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7200"/>
                    </a14:imgEffect>
                  </a14:imgLayer>
                </a14:imgProps>
              </a:ext>
            </a:extLst>
          </a:blip>
          <a:stretch>
            <a:fillRect/>
          </a:stretch>
        </p:blipFill>
        <p:spPr>
          <a:xfrm>
            <a:off x="6797154" y="525963"/>
            <a:ext cx="4888567" cy="5806074"/>
          </a:xfrm>
          <a:prstGeom prst="rect">
            <a:avLst/>
          </a:prstGeom>
          <a:ln w="76200">
            <a:solidFill>
              <a:schemeClr val="accent6">
                <a:lumMod val="20000"/>
                <a:lumOff val="80000"/>
              </a:schemeClr>
            </a:solidFill>
          </a:ln>
        </p:spPr>
      </p:pic>
    </p:spTree>
    <p:extLst>
      <p:ext uri="{BB962C8B-B14F-4D97-AF65-F5344CB8AC3E}">
        <p14:creationId xmlns:p14="http://schemas.microsoft.com/office/powerpoint/2010/main" val="11948228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78000"/>
                <a:shade val="100000"/>
                <a:hueMod val="136000"/>
                <a:satMod val="160000"/>
                <a:lumMod val="105000"/>
              </a:schemeClr>
            </a:gs>
            <a:gs pos="100000">
              <a:schemeClr val="bg2">
                <a:shade val="92000"/>
                <a:satMod val="170000"/>
                <a:lumMod val="96000"/>
              </a:schemeClr>
            </a:gs>
          </a:gsLst>
          <a:lin ang="5400000" scaled="0"/>
        </a:gra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DF02843-45E8-4403-8955-54CA98A197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935" y="0"/>
            <a:ext cx="813206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DC349214-DD18-4CC5-BBAC-F9C216BE7C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59935" cy="6858000"/>
          </a:xfrm>
          <a:prstGeom prst="rect">
            <a:avLst/>
          </a:prstGeom>
          <a:ln>
            <a:noFill/>
          </a:ln>
          <a:effectLst>
            <a:outerShdw blurRad="50800" dist="127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6DAB0D-3E0D-B985-44D0-AB0C94FA2CF8}"/>
              </a:ext>
            </a:extLst>
          </p:cNvPr>
          <p:cNvSpPr>
            <a:spLocks noGrp="1"/>
          </p:cNvSpPr>
          <p:nvPr>
            <p:ph type="title"/>
          </p:nvPr>
        </p:nvSpPr>
        <p:spPr>
          <a:xfrm>
            <a:off x="1255573" y="352329"/>
            <a:ext cx="3578756" cy="1064010"/>
          </a:xfrm>
        </p:spPr>
        <p:txBody>
          <a:bodyPr>
            <a:normAutofit/>
          </a:bodyPr>
          <a:lstStyle/>
          <a:p>
            <a:pPr algn="l"/>
            <a:r>
              <a:rPr lang="en-US" sz="3400" b="1" cap="none" dirty="0">
                <a:latin typeface="Cambria" panose="02040503050406030204" pitchFamily="18" charset="0"/>
                <a:ea typeface="Cambria" panose="02040503050406030204" pitchFamily="18" charset="0"/>
              </a:rPr>
              <a:t>Introduction</a:t>
            </a:r>
            <a:endParaRPr lang="en-NG" sz="3400" b="1" dirty="0">
              <a:latin typeface="Cambria" panose="02040503050406030204" pitchFamily="18" charset="0"/>
              <a:ea typeface="Cambria" panose="02040503050406030204" pitchFamily="18" charset="0"/>
            </a:endParaRPr>
          </a:p>
        </p:txBody>
      </p:sp>
      <p:pic>
        <p:nvPicPr>
          <p:cNvPr id="13" name="Picture 12">
            <a:extLst>
              <a:ext uri="{FF2B5EF4-FFF2-40B4-BE49-F238E27FC236}">
                <a16:creationId xmlns:a16="http://schemas.microsoft.com/office/drawing/2014/main" id="{E505542F-438B-4C62-B13A-916C7F79EC1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6700" b="77917"/>
          <a:stretch/>
        </p:blipFill>
        <p:spPr>
          <a:xfrm>
            <a:off x="0" y="0"/>
            <a:ext cx="4059935" cy="1514475"/>
          </a:xfrm>
          <a:prstGeom prst="rect">
            <a:avLst/>
          </a:prstGeom>
        </p:spPr>
      </p:pic>
      <p:pic>
        <p:nvPicPr>
          <p:cNvPr id="15" name="Picture 14">
            <a:extLst>
              <a:ext uri="{FF2B5EF4-FFF2-40B4-BE49-F238E27FC236}">
                <a16:creationId xmlns:a16="http://schemas.microsoft.com/office/drawing/2014/main" id="{154908BF-145E-4BE2-A6F0-0A464560144B}"/>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78750" t="72830" b="14149"/>
          <a:stretch/>
        </p:blipFill>
        <p:spPr>
          <a:xfrm>
            <a:off x="1377059" y="5962903"/>
            <a:ext cx="2590800" cy="892925"/>
          </a:xfrm>
          <a:prstGeom prst="rect">
            <a:avLst/>
          </a:prstGeom>
        </p:spPr>
      </p:pic>
      <p:sp>
        <p:nvSpPr>
          <p:cNvPr id="8" name="TextBox 7">
            <a:extLst>
              <a:ext uri="{FF2B5EF4-FFF2-40B4-BE49-F238E27FC236}">
                <a16:creationId xmlns:a16="http://schemas.microsoft.com/office/drawing/2014/main" id="{0605E64C-CA8D-BE8B-DB6D-A93DCBD3F17A}"/>
              </a:ext>
            </a:extLst>
          </p:cNvPr>
          <p:cNvSpPr txBox="1"/>
          <p:nvPr/>
        </p:nvSpPr>
        <p:spPr>
          <a:xfrm>
            <a:off x="4451571" y="198473"/>
            <a:ext cx="7270493" cy="2632003"/>
          </a:xfrm>
          <a:prstGeom prst="rect">
            <a:avLst/>
          </a:prstGeom>
          <a:noFill/>
        </p:spPr>
        <p:txBody>
          <a:bodyPr wrap="square">
            <a:spAutoFit/>
          </a:bodyPr>
          <a:lstStyle/>
          <a:p>
            <a:pPr lvl="0" algn="just">
              <a:lnSpc>
                <a:spcPct val="150000"/>
              </a:lnSpc>
            </a:pPr>
            <a:r>
              <a:rPr lang="en-GB" sz="1600" dirty="0">
                <a:latin typeface="Cambria" panose="02040503050406030204" pitchFamily="18" charset="0"/>
                <a:ea typeface="Cambria" panose="02040503050406030204" pitchFamily="18" charset="0"/>
              </a:rPr>
              <a:t>There is a common belief that certain factors, such as taking up part-time jobs, engaging in extracurricular activities, or class absenteeism, negatively impact students’ academic performance. However, the extent of this impact remains uncertain. This analysis aims to investigate these claims, providing data-driven insights to determine their validity. The goal is to ensure that potential benefits associated with these factors are not overlooked while addressing any challenges they may pose to students' academic success.</a:t>
            </a:r>
            <a:endParaRPr lang="en-US" sz="1600" dirty="0">
              <a:latin typeface="Cambria" panose="02040503050406030204" pitchFamily="18" charset="0"/>
              <a:ea typeface="Cambria" panose="02040503050406030204" pitchFamily="18" charset="0"/>
            </a:endParaRPr>
          </a:p>
        </p:txBody>
      </p:sp>
      <p:sp>
        <p:nvSpPr>
          <p:cNvPr id="10" name="TextBox 9">
            <a:extLst>
              <a:ext uri="{FF2B5EF4-FFF2-40B4-BE49-F238E27FC236}">
                <a16:creationId xmlns:a16="http://schemas.microsoft.com/office/drawing/2014/main" id="{D422E4EE-DEE6-180D-7A39-0E32B1FFB9AC}"/>
              </a:ext>
            </a:extLst>
          </p:cNvPr>
          <p:cNvSpPr txBox="1"/>
          <p:nvPr/>
        </p:nvSpPr>
        <p:spPr>
          <a:xfrm>
            <a:off x="1688797" y="3896688"/>
            <a:ext cx="2463214" cy="1384995"/>
          </a:xfrm>
          <a:prstGeom prst="rect">
            <a:avLst/>
          </a:prstGeom>
          <a:noFill/>
        </p:spPr>
        <p:txBody>
          <a:bodyPr wrap="square" rtlCol="0">
            <a:spAutoFit/>
          </a:bodyPr>
          <a:lstStyle/>
          <a:p>
            <a:r>
              <a:rPr lang="en-US" sz="2800" b="1" dirty="0">
                <a:latin typeface="Cambria" panose="02040503050406030204" pitchFamily="18" charset="0"/>
                <a:ea typeface="Cambria" panose="02040503050406030204" pitchFamily="18" charset="0"/>
                <a:cs typeface="+mj-cs"/>
              </a:rPr>
              <a:t>Dataset</a:t>
            </a:r>
            <a:r>
              <a:rPr lang="en-US" sz="2800" b="1" dirty="0">
                <a:latin typeface="Cambria" panose="02040503050406030204" pitchFamily="18" charset="0"/>
                <a:ea typeface="Cambria" panose="02040503050406030204" pitchFamily="18" charset="0"/>
              </a:rPr>
              <a:t> </a:t>
            </a:r>
            <a:r>
              <a:rPr lang="en-US" sz="2800" b="1" dirty="0">
                <a:latin typeface="Cambria" panose="02040503050406030204" pitchFamily="18" charset="0"/>
                <a:ea typeface="Cambria" panose="02040503050406030204" pitchFamily="18" charset="0"/>
                <a:cs typeface="+mj-cs"/>
              </a:rPr>
              <a:t>Overview &amp; Methodology</a:t>
            </a:r>
            <a:endParaRPr lang="en-NG" sz="2800" b="1" dirty="0">
              <a:latin typeface="Cambria" panose="02040503050406030204" pitchFamily="18" charset="0"/>
              <a:ea typeface="Cambria" panose="02040503050406030204" pitchFamily="18" charset="0"/>
              <a:cs typeface="+mj-cs"/>
            </a:endParaRPr>
          </a:p>
        </p:txBody>
      </p:sp>
      <p:sp>
        <p:nvSpPr>
          <p:cNvPr id="12" name="Rectangle 11" descr="Database">
            <a:extLst>
              <a:ext uri="{FF2B5EF4-FFF2-40B4-BE49-F238E27FC236}">
                <a16:creationId xmlns:a16="http://schemas.microsoft.com/office/drawing/2014/main" id="{6CD62303-0F08-A3C9-157D-79F6BAA6DBAC}"/>
              </a:ext>
            </a:extLst>
          </p:cNvPr>
          <p:cNvSpPr/>
          <p:nvPr/>
        </p:nvSpPr>
        <p:spPr>
          <a:xfrm>
            <a:off x="-391636" y="3738688"/>
            <a:ext cx="2421603" cy="2847552"/>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NG"/>
          </a:p>
        </p:txBody>
      </p:sp>
      <p:pic>
        <p:nvPicPr>
          <p:cNvPr id="23" name="Picture 22">
            <a:extLst>
              <a:ext uri="{FF2B5EF4-FFF2-40B4-BE49-F238E27FC236}">
                <a16:creationId xmlns:a16="http://schemas.microsoft.com/office/drawing/2014/main" id="{E90A2686-C70B-5A98-6031-573A576DFB3C}"/>
              </a:ext>
            </a:extLst>
          </p:cNvPr>
          <p:cNvPicPr>
            <a:picLocks noChangeAspect="1"/>
          </p:cNvPicPr>
          <p:nvPr/>
        </p:nvPicPr>
        <p:blipFill>
          <a:blip r:embed="rId7"/>
          <a:stretch>
            <a:fillRect/>
          </a:stretch>
        </p:blipFill>
        <p:spPr>
          <a:xfrm>
            <a:off x="91005" y="161058"/>
            <a:ext cx="1167816" cy="1514475"/>
          </a:xfrm>
          <a:prstGeom prst="rect">
            <a:avLst/>
          </a:prstGeom>
        </p:spPr>
      </p:pic>
      <p:graphicFrame>
        <p:nvGraphicFramePr>
          <p:cNvPr id="25" name="TextBox 13">
            <a:extLst>
              <a:ext uri="{FF2B5EF4-FFF2-40B4-BE49-F238E27FC236}">
                <a16:creationId xmlns:a16="http://schemas.microsoft.com/office/drawing/2014/main" id="{177382EB-7FAD-652E-8693-A4F631207B60}"/>
              </a:ext>
            </a:extLst>
          </p:cNvPr>
          <p:cNvGraphicFramePr/>
          <p:nvPr>
            <p:extLst>
              <p:ext uri="{D42A27DB-BD31-4B8C-83A1-F6EECF244321}">
                <p14:modId xmlns:p14="http://schemas.microsoft.com/office/powerpoint/2010/main" val="1832565577"/>
              </p:ext>
            </p:extLst>
          </p:nvPr>
        </p:nvGraphicFramePr>
        <p:xfrm>
          <a:off x="4366836" y="3182805"/>
          <a:ext cx="7690220" cy="340343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8869658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790430-9345-537C-766C-CABF779B4DA7}"/>
              </a:ext>
            </a:extLst>
          </p:cNvPr>
          <p:cNvSpPr>
            <a:spLocks noGrp="1"/>
          </p:cNvSpPr>
          <p:nvPr>
            <p:ph type="title"/>
          </p:nvPr>
        </p:nvSpPr>
        <p:spPr>
          <a:xfrm>
            <a:off x="3597014" y="0"/>
            <a:ext cx="3935688" cy="501453"/>
          </a:xfrm>
        </p:spPr>
        <p:txBody>
          <a:bodyPr>
            <a:normAutofit fontScale="90000"/>
          </a:bodyPr>
          <a:lstStyle/>
          <a:p>
            <a:r>
              <a:rPr lang="en-US" b="1" cap="none" dirty="0">
                <a:latin typeface="Cambria" panose="02040503050406030204" pitchFamily="18" charset="0"/>
                <a:ea typeface="Cambria" panose="02040503050406030204" pitchFamily="18" charset="0"/>
              </a:rPr>
              <a:t>Key Insights</a:t>
            </a:r>
            <a:endParaRPr lang="en-NG" b="1" cap="none" dirty="0">
              <a:latin typeface="Cambria" panose="02040503050406030204" pitchFamily="18" charset="0"/>
              <a:ea typeface="Cambria" panose="02040503050406030204" pitchFamily="18" charset="0"/>
            </a:endParaRPr>
          </a:p>
        </p:txBody>
      </p:sp>
      <p:pic>
        <p:nvPicPr>
          <p:cNvPr id="8" name="Content Placeholder 7">
            <a:extLst>
              <a:ext uri="{FF2B5EF4-FFF2-40B4-BE49-F238E27FC236}">
                <a16:creationId xmlns:a16="http://schemas.microsoft.com/office/drawing/2014/main" id="{764BD7B4-8ADB-C129-EFE0-2EE34DEBEFC0}"/>
              </a:ext>
            </a:extLst>
          </p:cNvPr>
          <p:cNvPicPr>
            <a:picLocks noGrp="1" noChangeAspect="1"/>
          </p:cNvPicPr>
          <p:nvPr>
            <p:ph sz="quarter" idx="13"/>
          </p:nvPr>
        </p:nvPicPr>
        <p:blipFill>
          <a:blip r:embed="rId2">
            <a:extLst>
              <a:ext uri="{BEBA8EAE-BF5A-486C-A8C5-ECC9F3942E4B}">
                <a14:imgProps xmlns:a14="http://schemas.microsoft.com/office/drawing/2010/main">
                  <a14:imgLayer r:embed="rId3">
                    <a14:imgEffect>
                      <a14:sharpenSoften amount="50000"/>
                    </a14:imgEffect>
                    <a14:imgEffect>
                      <a14:brightnessContrast contrast="20000"/>
                    </a14:imgEffect>
                  </a14:imgLayer>
                </a14:imgProps>
              </a:ext>
            </a:extLst>
          </a:blip>
          <a:stretch>
            <a:fillRect/>
          </a:stretch>
        </p:blipFill>
        <p:spPr>
          <a:xfrm>
            <a:off x="6525133" y="1304140"/>
            <a:ext cx="5019061" cy="4661941"/>
          </a:xfrm>
        </p:spPr>
      </p:pic>
      <p:sp>
        <p:nvSpPr>
          <p:cNvPr id="9" name="TextBox 8">
            <a:extLst>
              <a:ext uri="{FF2B5EF4-FFF2-40B4-BE49-F238E27FC236}">
                <a16:creationId xmlns:a16="http://schemas.microsoft.com/office/drawing/2014/main" id="{34879FC9-69A5-D4AE-8C1A-5261107B732A}"/>
              </a:ext>
            </a:extLst>
          </p:cNvPr>
          <p:cNvSpPr txBox="1"/>
          <p:nvPr/>
        </p:nvSpPr>
        <p:spPr>
          <a:xfrm>
            <a:off x="464695" y="5484645"/>
            <a:ext cx="5631305" cy="646331"/>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Cambria" panose="02040503050406030204" pitchFamily="18" charset="0"/>
                <a:ea typeface="Cambria" panose="02040503050406030204" pitchFamily="18" charset="0"/>
              </a:rPr>
              <a:t>The class is composed of 50.1% females and 40.9% males.</a:t>
            </a:r>
          </a:p>
        </p:txBody>
      </p:sp>
      <p:sp>
        <p:nvSpPr>
          <p:cNvPr id="11" name="TextBox 10">
            <a:extLst>
              <a:ext uri="{FF2B5EF4-FFF2-40B4-BE49-F238E27FC236}">
                <a16:creationId xmlns:a16="http://schemas.microsoft.com/office/drawing/2014/main" id="{3E8F8BE4-4486-EA26-D4D9-00541B8D4067}"/>
              </a:ext>
            </a:extLst>
          </p:cNvPr>
          <p:cNvSpPr txBox="1"/>
          <p:nvPr/>
        </p:nvSpPr>
        <p:spPr>
          <a:xfrm>
            <a:off x="6366270" y="501453"/>
            <a:ext cx="5825730" cy="923330"/>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Cambria" panose="02040503050406030204" pitchFamily="18" charset="0"/>
                <a:ea typeface="Cambria" panose="02040503050406030204" pitchFamily="18" charset="0"/>
              </a:rPr>
              <a:t>167 female students take up part time jobs while in school while there are 149 males doing same</a:t>
            </a:r>
            <a:endParaRPr lang="en-NG" dirty="0">
              <a:latin typeface="Cambria" panose="02040503050406030204" pitchFamily="18" charset="0"/>
              <a:ea typeface="Cambria" panose="02040503050406030204" pitchFamily="18" charset="0"/>
            </a:endParaRPr>
          </a:p>
          <a:p>
            <a:endParaRPr lang="en-NG" dirty="0"/>
          </a:p>
        </p:txBody>
      </p:sp>
      <p:pic>
        <p:nvPicPr>
          <p:cNvPr id="15" name="Picture 14">
            <a:extLst>
              <a:ext uri="{FF2B5EF4-FFF2-40B4-BE49-F238E27FC236}">
                <a16:creationId xmlns:a16="http://schemas.microsoft.com/office/drawing/2014/main" id="{B538FC0F-B1F5-AB52-6538-B2B0BC5BCCD5}"/>
              </a:ext>
            </a:extLst>
          </p:cNvPr>
          <p:cNvPicPr>
            <a:picLocks noChangeAspect="1"/>
          </p:cNvPicPr>
          <p:nvPr/>
        </p:nvPicPr>
        <p:blipFill>
          <a:blip r:embed="rId4"/>
          <a:stretch>
            <a:fillRect/>
          </a:stretch>
        </p:blipFill>
        <p:spPr>
          <a:xfrm>
            <a:off x="647806" y="952636"/>
            <a:ext cx="4781862" cy="4532009"/>
          </a:xfrm>
          <a:prstGeom prst="rect">
            <a:avLst/>
          </a:prstGeom>
        </p:spPr>
      </p:pic>
    </p:spTree>
    <p:extLst>
      <p:ext uri="{BB962C8B-B14F-4D97-AF65-F5344CB8AC3E}">
        <p14:creationId xmlns:p14="http://schemas.microsoft.com/office/powerpoint/2010/main" val="2499766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DFD1C9-567C-6C40-2077-D6BD22222E95}"/>
              </a:ext>
            </a:extLst>
          </p:cNvPr>
          <p:cNvSpPr txBox="1">
            <a:spLocks/>
          </p:cNvSpPr>
          <p:nvPr/>
        </p:nvSpPr>
        <p:spPr>
          <a:xfrm>
            <a:off x="3791886" y="44970"/>
            <a:ext cx="3935688" cy="449705"/>
          </a:xfrm>
          <a:prstGeom prst="rect">
            <a:avLst/>
          </a:prstGeom>
        </p:spPr>
        <p:txBody>
          <a:bodyPr>
            <a:normAutofit fontScale="85000" lnSpcReduction="20000"/>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b="1" cap="none" dirty="0">
                <a:latin typeface="Cambria" panose="02040503050406030204" pitchFamily="18" charset="0"/>
                <a:ea typeface="Cambria" panose="02040503050406030204" pitchFamily="18" charset="0"/>
              </a:rPr>
              <a:t>Key Insights</a:t>
            </a:r>
            <a:endParaRPr lang="en-NG" b="1" cap="none"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4089C080-DBA7-F5ED-59E6-FC10B61827B7}"/>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50000"/>
                    </a14:imgEffect>
                  </a14:imgLayer>
                </a14:imgProps>
              </a:ext>
            </a:extLst>
          </a:blip>
          <a:stretch>
            <a:fillRect/>
          </a:stretch>
        </p:blipFill>
        <p:spPr>
          <a:xfrm>
            <a:off x="569430" y="861220"/>
            <a:ext cx="5190300" cy="4535237"/>
          </a:xfrm>
          <a:prstGeom prst="rect">
            <a:avLst/>
          </a:prstGeom>
        </p:spPr>
      </p:pic>
      <p:pic>
        <p:nvPicPr>
          <p:cNvPr id="6" name="Picture 5">
            <a:extLst>
              <a:ext uri="{FF2B5EF4-FFF2-40B4-BE49-F238E27FC236}">
                <a16:creationId xmlns:a16="http://schemas.microsoft.com/office/drawing/2014/main" id="{8A6E402C-2D2F-0699-8311-0C6A023C0C2A}"/>
              </a:ext>
            </a:extLst>
          </p:cNvPr>
          <p:cNvPicPr>
            <a:picLocks noChangeAspect="1"/>
          </p:cNvPicPr>
          <p:nvPr/>
        </p:nvPicPr>
        <p:blipFill>
          <a:blip r:embed="rId5">
            <a:extLst>
              <a:ext uri="{BEBA8EAE-BF5A-486C-A8C5-ECC9F3942E4B}">
                <a14:imgProps xmlns:a14="http://schemas.microsoft.com/office/drawing/2010/main">
                  <a14:imgLayer r:embed="rId6">
                    <a14:imgEffect>
                      <a14:sharpenSoften amount="50000"/>
                    </a14:imgEffect>
                  </a14:imgLayer>
                </a14:imgProps>
              </a:ext>
            </a:extLst>
          </a:blip>
          <a:stretch>
            <a:fillRect/>
          </a:stretch>
        </p:blipFill>
        <p:spPr>
          <a:xfrm>
            <a:off x="6215920" y="2405930"/>
            <a:ext cx="5575048" cy="4356100"/>
          </a:xfrm>
          <a:prstGeom prst="rect">
            <a:avLst/>
          </a:prstGeom>
        </p:spPr>
      </p:pic>
      <p:sp>
        <p:nvSpPr>
          <p:cNvPr id="7" name="TextBox 6">
            <a:extLst>
              <a:ext uri="{FF2B5EF4-FFF2-40B4-BE49-F238E27FC236}">
                <a16:creationId xmlns:a16="http://schemas.microsoft.com/office/drawing/2014/main" id="{0B485E6B-3542-BFDF-CBDC-9D700A255C40}"/>
              </a:ext>
            </a:extLst>
          </p:cNvPr>
          <p:cNvSpPr txBox="1"/>
          <p:nvPr/>
        </p:nvSpPr>
        <p:spPr>
          <a:xfrm>
            <a:off x="113240" y="5396457"/>
            <a:ext cx="5862841" cy="135421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The mean total score for students with part time job is </a:t>
            </a:r>
            <a:r>
              <a:rPr lang="en-NG" sz="1600" dirty="0">
                <a:solidFill>
                  <a:srgbClr val="000000"/>
                </a:solidFill>
                <a:effectLst/>
                <a:latin typeface="Cambria" panose="02040503050406030204" pitchFamily="18" charset="0"/>
                <a:ea typeface="Cambria" panose="02040503050406030204" pitchFamily="18" charset="0"/>
              </a:rPr>
              <a:t>548.03</a:t>
            </a:r>
            <a:r>
              <a:rPr lang="en-US" sz="1600" dirty="0">
                <a:solidFill>
                  <a:srgbClr val="000000"/>
                </a:solidFill>
                <a:effectLst/>
                <a:latin typeface="Cambria" panose="02040503050406030204" pitchFamily="18" charset="0"/>
                <a:ea typeface="Cambria" panose="02040503050406030204" pitchFamily="18" charset="0"/>
              </a:rPr>
              <a:t> while for students </a:t>
            </a:r>
            <a:r>
              <a:rPr lang="en-US" sz="1500" dirty="0">
                <a:solidFill>
                  <a:srgbClr val="000000"/>
                </a:solidFill>
                <a:effectLst/>
                <a:latin typeface="Cambria" panose="02040503050406030204" pitchFamily="18" charset="0"/>
                <a:ea typeface="Cambria" panose="02040503050406030204" pitchFamily="18" charset="0"/>
              </a:rPr>
              <a:t>without</a:t>
            </a:r>
            <a:r>
              <a:rPr lang="en-US" sz="1600" dirty="0">
                <a:solidFill>
                  <a:srgbClr val="000000"/>
                </a:solidFill>
                <a:effectLst/>
                <a:latin typeface="Cambria" panose="02040503050406030204" pitchFamily="18" charset="0"/>
                <a:ea typeface="Cambria" panose="02040503050406030204" pitchFamily="18" charset="0"/>
              </a:rPr>
              <a:t> part time job is </a:t>
            </a:r>
            <a:r>
              <a:rPr lang="en-NG" sz="1600" dirty="0">
                <a:solidFill>
                  <a:srgbClr val="000000"/>
                </a:solidFill>
                <a:effectLst/>
                <a:latin typeface="Cambria" panose="02040503050406030204" pitchFamily="18" charset="0"/>
                <a:ea typeface="Cambria" panose="02040503050406030204" pitchFamily="18" charset="0"/>
              </a:rPr>
              <a:t>570.39</a:t>
            </a:r>
            <a:r>
              <a:rPr lang="en-US" sz="1600" dirty="0">
                <a:solidFill>
                  <a:srgbClr val="000000"/>
                </a:solidFill>
                <a:latin typeface="Cambria" panose="02040503050406030204" pitchFamily="18" charset="0"/>
                <a:ea typeface="Cambria" panose="02040503050406030204" pitchFamily="18" charset="0"/>
              </a:rPr>
              <a:t>.</a:t>
            </a:r>
          </a:p>
          <a:p>
            <a:pPr marL="285750" indent="-285750">
              <a:buFont typeface="Arial" panose="020B0604020202020204" pitchFamily="34" charset="0"/>
              <a:buChar char="•"/>
            </a:pPr>
            <a:endParaRPr lang="en-US" sz="1600" dirty="0">
              <a:solidFill>
                <a:srgbClr val="000000"/>
              </a:solidFill>
              <a:effectLst/>
              <a:latin typeface="Cambria" panose="02040503050406030204" pitchFamily="18" charset="0"/>
              <a:ea typeface="Cambria" panose="02040503050406030204" pitchFamily="18" charset="0"/>
            </a:endParaRPr>
          </a:p>
          <a:p>
            <a:pPr marL="285750" indent="-285750">
              <a:buFont typeface="Arial" panose="020B0604020202020204" pitchFamily="34" charset="0"/>
              <a:buChar char="•"/>
            </a:pPr>
            <a:r>
              <a:rPr lang="en-US" sz="1600" dirty="0">
                <a:solidFill>
                  <a:srgbClr val="000000"/>
                </a:solidFill>
                <a:latin typeface="Cambria" panose="02040503050406030204" pitchFamily="18" charset="0"/>
                <a:ea typeface="Cambria" panose="02040503050406030204" pitchFamily="18" charset="0"/>
              </a:rPr>
              <a:t>The minimum total score  for both groups is 414</a:t>
            </a:r>
            <a:endParaRPr lang="en-US" sz="1600" dirty="0">
              <a:solidFill>
                <a:srgbClr val="000000"/>
              </a:solidFill>
              <a:effectLst/>
              <a:latin typeface="Cambria" panose="02040503050406030204" pitchFamily="18" charset="0"/>
              <a:ea typeface="Cambria" panose="02040503050406030204" pitchFamily="18" charset="0"/>
            </a:endParaRPr>
          </a:p>
          <a:p>
            <a:endParaRPr lang="en-NG" dirty="0"/>
          </a:p>
        </p:txBody>
      </p:sp>
      <p:sp>
        <p:nvSpPr>
          <p:cNvPr id="9" name="TextBox 8">
            <a:extLst>
              <a:ext uri="{FF2B5EF4-FFF2-40B4-BE49-F238E27FC236}">
                <a16:creationId xmlns:a16="http://schemas.microsoft.com/office/drawing/2014/main" id="{22F9EDCA-71CF-A44B-5CB4-468402D58E08}"/>
              </a:ext>
            </a:extLst>
          </p:cNvPr>
          <p:cNvSpPr txBox="1"/>
          <p:nvPr/>
        </p:nvSpPr>
        <p:spPr>
          <a:xfrm>
            <a:off x="6096000" y="702882"/>
            <a:ext cx="6096000" cy="1477328"/>
          </a:xfrm>
          <a:prstGeom prst="rect">
            <a:avLst/>
          </a:prstGeom>
          <a:noFill/>
        </p:spPr>
        <p:txBody>
          <a:bodyPr wrap="square">
            <a:spAutoFit/>
          </a:bodyPr>
          <a:lstStyle/>
          <a:p>
            <a:pPr marL="285750" indent="-285750">
              <a:buFont typeface="Arial" panose="020B0604020202020204" pitchFamily="34" charset="0"/>
              <a:buChar char="•"/>
            </a:pPr>
            <a:r>
              <a:rPr lang="en-US" sz="1500" dirty="0">
                <a:solidFill>
                  <a:srgbClr val="000000"/>
                </a:solidFill>
                <a:latin typeface="Cambria" panose="02040503050406030204" pitchFamily="18" charset="0"/>
                <a:ea typeface="Cambria" panose="02040503050406030204" pitchFamily="18" charset="0"/>
              </a:rPr>
              <a:t>The mean total score for students who engage in </a:t>
            </a:r>
            <a:r>
              <a:rPr lang="en-US" sz="1500" dirty="0">
                <a:latin typeface="Cambria" panose="02040503050406030204" pitchFamily="18" charset="0"/>
                <a:ea typeface="Cambria" panose="02040503050406030204" pitchFamily="18" charset="0"/>
              </a:rPr>
              <a:t>extracurricular</a:t>
            </a:r>
            <a:r>
              <a:rPr lang="en-US" sz="1500" dirty="0">
                <a:solidFill>
                  <a:srgbClr val="000000"/>
                </a:solidFill>
                <a:latin typeface="Cambria" panose="02040503050406030204" pitchFamily="18" charset="0"/>
                <a:ea typeface="Cambria" panose="02040503050406030204" pitchFamily="18" charset="0"/>
              </a:rPr>
              <a:t> activities is 564.19 while for students who did not is 567.55</a:t>
            </a:r>
          </a:p>
          <a:p>
            <a:pPr marL="285750" indent="-285750">
              <a:buFont typeface="Arial" panose="020B0604020202020204" pitchFamily="34" charset="0"/>
              <a:buChar char="•"/>
            </a:pPr>
            <a:r>
              <a:rPr lang="en-US" sz="1500" dirty="0">
                <a:solidFill>
                  <a:srgbClr val="000000"/>
                </a:solidFill>
                <a:latin typeface="Cambria" panose="02040503050406030204" pitchFamily="18" charset="0"/>
                <a:ea typeface="Cambria" panose="02040503050406030204" pitchFamily="18" charset="0"/>
              </a:rPr>
              <a:t>The maximum score for students with extracurricular activity is 673 while students without it had 671</a:t>
            </a:r>
          </a:p>
          <a:p>
            <a:pPr marL="285750" indent="-285750">
              <a:buFont typeface="Arial" panose="020B0604020202020204" pitchFamily="34" charset="0"/>
              <a:buChar char="•"/>
            </a:pPr>
            <a:r>
              <a:rPr lang="en-US" sz="1500" dirty="0">
                <a:solidFill>
                  <a:srgbClr val="000000"/>
                </a:solidFill>
                <a:latin typeface="Cambria" panose="02040503050406030204" pitchFamily="18" charset="0"/>
                <a:ea typeface="Cambria" panose="02040503050406030204" pitchFamily="18" charset="0"/>
              </a:rPr>
              <a:t>The minimum score for students with extracurricular activity is 442 while students without it had 414</a:t>
            </a:r>
            <a:endParaRPr lang="en-NG" sz="1500" dirty="0">
              <a:latin typeface="Cambria" panose="02040503050406030204" pitchFamily="18" charset="0"/>
              <a:ea typeface="Cambria" panose="02040503050406030204" pitchFamily="18" charset="0"/>
            </a:endParaRPr>
          </a:p>
        </p:txBody>
      </p:sp>
      <p:sp>
        <p:nvSpPr>
          <p:cNvPr id="13" name="Rectangle 2">
            <a:extLst>
              <a:ext uri="{FF2B5EF4-FFF2-40B4-BE49-F238E27FC236}">
                <a16:creationId xmlns:a16="http://schemas.microsoft.com/office/drawing/2014/main" id="{70034DD0-B630-DBAE-DCBD-5421EDD04289}"/>
              </a:ext>
            </a:extLst>
          </p:cNvPr>
          <p:cNvSpPr>
            <a:spLocks noChangeArrowheads="1"/>
          </p:cNvSpPr>
          <p:nvPr/>
        </p:nvSpPr>
        <p:spPr bwMode="auto">
          <a:xfrm>
            <a:off x="974361" y="3865745"/>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NG" altLang="en-NG" sz="1800" b="0" i="0" u="none" strike="noStrike" cap="none" normalizeH="0" baseline="0">
                <a:ln>
                  <a:noFill/>
                </a:ln>
                <a:solidFill>
                  <a:schemeClr val="tx1"/>
                </a:solidFill>
                <a:effectLst/>
                <a:latin typeface="Arial" panose="020B0604020202020204" pitchFamily="34" charset="0"/>
              </a:rPr>
            </a:br>
            <a:endParaRPr kumimoji="0" lang="en-NG" altLang="en-NG"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22608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5B392CB-BD24-BCDF-D5B2-579BAAB2949B}"/>
              </a:ext>
            </a:extLst>
          </p:cNvPr>
          <p:cNvSpPr txBox="1">
            <a:spLocks/>
          </p:cNvSpPr>
          <p:nvPr/>
        </p:nvSpPr>
        <p:spPr>
          <a:xfrm>
            <a:off x="3791886" y="44971"/>
            <a:ext cx="3935688" cy="398332"/>
          </a:xfrm>
          <a:prstGeom prst="rect">
            <a:avLst/>
          </a:prstGeom>
        </p:spPr>
        <p:txBody>
          <a:bodyPr>
            <a:normAutofit fontScale="77500" lnSpcReduction="20000"/>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b="1" cap="none" dirty="0">
                <a:latin typeface="Cambria" panose="02040503050406030204" pitchFamily="18" charset="0"/>
                <a:ea typeface="Cambria" panose="02040503050406030204" pitchFamily="18" charset="0"/>
              </a:rPr>
              <a:t>Key Insights</a:t>
            </a:r>
            <a:endParaRPr lang="en-NG" b="1" cap="none" dirty="0">
              <a:latin typeface="Cambria" panose="02040503050406030204" pitchFamily="18" charset="0"/>
              <a:ea typeface="Cambria" panose="02040503050406030204" pitchFamily="18" charset="0"/>
            </a:endParaRPr>
          </a:p>
        </p:txBody>
      </p:sp>
      <p:sp>
        <p:nvSpPr>
          <p:cNvPr id="7" name="TextBox 6">
            <a:extLst>
              <a:ext uri="{FF2B5EF4-FFF2-40B4-BE49-F238E27FC236}">
                <a16:creationId xmlns:a16="http://schemas.microsoft.com/office/drawing/2014/main" id="{880CCBAF-1908-AEF2-1C1B-A66CEB4CA35F}"/>
              </a:ext>
            </a:extLst>
          </p:cNvPr>
          <p:cNvSpPr txBox="1"/>
          <p:nvPr/>
        </p:nvSpPr>
        <p:spPr>
          <a:xfrm>
            <a:off x="343190" y="3013501"/>
            <a:ext cx="4582164"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Mathematics has the strongest correlation with the overall academic performance and Geography has the least.</a:t>
            </a:r>
            <a:endParaRPr lang="en-NG" sz="1600" dirty="0">
              <a:latin typeface="Cambria" panose="02040503050406030204" pitchFamily="18" charset="0"/>
              <a:ea typeface="Cambria" panose="02040503050406030204" pitchFamily="18" charset="0"/>
            </a:endParaRPr>
          </a:p>
        </p:txBody>
      </p:sp>
      <p:sp>
        <p:nvSpPr>
          <p:cNvPr id="17" name="TextBox 16">
            <a:extLst>
              <a:ext uri="{FF2B5EF4-FFF2-40B4-BE49-F238E27FC236}">
                <a16:creationId xmlns:a16="http://schemas.microsoft.com/office/drawing/2014/main" id="{CBE3D2E2-9358-4BD6-B686-51FC96F8267B}"/>
              </a:ext>
            </a:extLst>
          </p:cNvPr>
          <p:cNvSpPr txBox="1"/>
          <p:nvPr/>
        </p:nvSpPr>
        <p:spPr>
          <a:xfrm>
            <a:off x="5579389" y="441193"/>
            <a:ext cx="6401932" cy="1323439"/>
          </a:xfrm>
          <a:prstGeom prst="rect">
            <a:avLst/>
          </a:prstGeom>
          <a:noFill/>
        </p:spPr>
        <p:txBody>
          <a:bodyPr wrap="square" rtlCol="0">
            <a:spAutoFit/>
          </a:bodyPr>
          <a:lstStyle/>
          <a:p>
            <a:pPr marL="285750" indent="-285750">
              <a:buFont typeface="Arial" panose="020B0604020202020204" pitchFamily="34" charset="0"/>
              <a:buChar char="•"/>
            </a:pPr>
            <a:r>
              <a:rPr lang="en-GB" sz="1600" dirty="0">
                <a:latin typeface="Cambria" panose="02040503050406030204" pitchFamily="18" charset="0"/>
                <a:ea typeface="Cambria" panose="02040503050406030204" pitchFamily="18" charset="0"/>
              </a:rPr>
              <a:t>This chart shows that more self study hours lead to better performance across all subjects.</a:t>
            </a:r>
          </a:p>
          <a:p>
            <a:pPr marL="285750" indent="-285750">
              <a:buFont typeface="Arial" panose="020B0604020202020204" pitchFamily="34" charset="0"/>
              <a:buChar char="•"/>
            </a:pPr>
            <a:r>
              <a:rPr lang="en-GB" sz="1600" dirty="0">
                <a:latin typeface="Cambria" panose="02040503050406030204" pitchFamily="18" charset="0"/>
                <a:ea typeface="Cambria" panose="02040503050406030204" pitchFamily="18" charset="0"/>
              </a:rPr>
              <a:t>Math scores consistently remain the highest across all study hour groups.</a:t>
            </a:r>
          </a:p>
          <a:p>
            <a:endParaRPr lang="en-NG" sz="1600" b="1" i="1" dirty="0">
              <a:latin typeface="Cambria" panose="02040503050406030204" pitchFamily="18" charset="0"/>
              <a:ea typeface="Cambria" panose="02040503050406030204" pitchFamily="18" charset="0"/>
            </a:endParaRPr>
          </a:p>
        </p:txBody>
      </p:sp>
      <p:pic>
        <p:nvPicPr>
          <p:cNvPr id="2050" name="Picture 2">
            <a:extLst>
              <a:ext uri="{FF2B5EF4-FFF2-40B4-BE49-F238E27FC236}">
                <a16:creationId xmlns:a16="http://schemas.microsoft.com/office/drawing/2014/main" id="{AAE24087-226E-C2AD-9935-7A43847B68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90545" y="1484025"/>
            <a:ext cx="5058266" cy="3609343"/>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3D550B4F-B9E9-F69E-48E8-108F4AFCE4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48581" y="492565"/>
            <a:ext cx="4423025" cy="2284843"/>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10515D51-8DD4-C1DE-B43C-BAF4F68FEBD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581" y="4080591"/>
            <a:ext cx="5311134" cy="2439185"/>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B0C149BF-BD5F-A8DF-3DA1-15B1A8836524}"/>
              </a:ext>
            </a:extLst>
          </p:cNvPr>
          <p:cNvSpPr txBox="1"/>
          <p:nvPr/>
        </p:nvSpPr>
        <p:spPr>
          <a:xfrm>
            <a:off x="6029735" y="5585810"/>
            <a:ext cx="2648069" cy="830997"/>
          </a:xfrm>
          <a:prstGeom prst="rect">
            <a:avLst/>
          </a:prstGeom>
          <a:noFill/>
        </p:spPr>
        <p:txBody>
          <a:bodyPr wrap="square" rtlCol="0">
            <a:spAutoFit/>
          </a:bodyPr>
          <a:lstStyle/>
          <a:p>
            <a:pPr marL="285750" indent="-285750">
              <a:buFont typeface="Arial" panose="020B0604020202020204" pitchFamily="34" charset="0"/>
              <a:buChar char="•"/>
            </a:pPr>
            <a:r>
              <a:rPr lang="en-US" sz="1600" dirty="0">
                <a:latin typeface="Cambria" panose="02040503050406030204" pitchFamily="18" charset="0"/>
                <a:ea typeface="Cambria" panose="02040503050406030204" pitchFamily="18" charset="0"/>
              </a:rPr>
              <a:t>Students with more absence days tend to score lower.</a:t>
            </a:r>
            <a:endParaRPr lang="en-NG" sz="16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61568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4F6AB1-EEF3-5F8F-199A-364C5AFBE2DD}"/>
              </a:ext>
            </a:extLst>
          </p:cNvPr>
          <p:cNvSpPr>
            <a:spLocks noGrp="1"/>
          </p:cNvSpPr>
          <p:nvPr>
            <p:ph type="title"/>
          </p:nvPr>
        </p:nvSpPr>
        <p:spPr>
          <a:xfrm>
            <a:off x="816012" y="197853"/>
            <a:ext cx="10364452" cy="457200"/>
          </a:xfrm>
        </p:spPr>
        <p:txBody>
          <a:bodyPr>
            <a:normAutofit fontScale="90000"/>
          </a:bodyPr>
          <a:lstStyle/>
          <a:p>
            <a:r>
              <a:rPr lang="en-US" sz="3200" b="1" cap="none" dirty="0">
                <a:latin typeface="Cambria" panose="02040503050406030204" pitchFamily="18" charset="0"/>
                <a:ea typeface="Cambria" panose="02040503050406030204" pitchFamily="18" charset="0"/>
              </a:rPr>
              <a:t>Conclusion</a:t>
            </a:r>
            <a:endParaRPr lang="en-NG" sz="3200" b="1" cap="none" dirty="0">
              <a:latin typeface="Cambria" panose="02040503050406030204" pitchFamily="18" charset="0"/>
              <a:ea typeface="Cambria" panose="02040503050406030204" pitchFamily="18" charset="0"/>
            </a:endParaRPr>
          </a:p>
        </p:txBody>
      </p:sp>
      <p:sp>
        <p:nvSpPr>
          <p:cNvPr id="4" name="Text Placeholder 3">
            <a:extLst>
              <a:ext uri="{FF2B5EF4-FFF2-40B4-BE49-F238E27FC236}">
                <a16:creationId xmlns:a16="http://schemas.microsoft.com/office/drawing/2014/main" id="{7331769F-72D6-27D7-BF45-19001449C62B}"/>
              </a:ext>
            </a:extLst>
          </p:cNvPr>
          <p:cNvSpPr>
            <a:spLocks noGrp="1"/>
          </p:cNvSpPr>
          <p:nvPr>
            <p:ph type="body" sz="half" idx="15"/>
          </p:nvPr>
        </p:nvSpPr>
        <p:spPr>
          <a:xfrm>
            <a:off x="359764" y="994646"/>
            <a:ext cx="3852986" cy="5735938"/>
          </a:xfrm>
        </p:spPr>
        <p:txBody>
          <a:bodyPr>
            <a:normAutofit/>
          </a:bodyPr>
          <a:lstStyle/>
          <a:p>
            <a:pPr algn="just"/>
            <a:endParaRPr lang="en-GB" sz="1600" b="1" cap="none" dirty="0">
              <a:latin typeface="Cambria" panose="02040503050406030204" pitchFamily="18" charset="0"/>
              <a:ea typeface="Cambria" panose="02040503050406030204" pitchFamily="18" charset="0"/>
            </a:endParaRPr>
          </a:p>
          <a:p>
            <a:pPr algn="just"/>
            <a:endParaRPr lang="en-GB" sz="1600" b="1" cap="none" dirty="0">
              <a:latin typeface="Cambria" panose="02040503050406030204" pitchFamily="18" charset="0"/>
              <a:ea typeface="Cambria" panose="02040503050406030204" pitchFamily="18" charset="0"/>
            </a:endParaRPr>
          </a:p>
          <a:p>
            <a:pPr algn="just"/>
            <a:endParaRPr lang="en-GB" sz="1600" b="1" cap="none" dirty="0">
              <a:latin typeface="Cambria" panose="02040503050406030204" pitchFamily="18" charset="0"/>
              <a:ea typeface="Cambria" panose="02040503050406030204" pitchFamily="18" charset="0"/>
            </a:endParaRPr>
          </a:p>
          <a:p>
            <a:pPr algn="just"/>
            <a:endParaRPr lang="en-GB" sz="1600" b="1" cap="none" dirty="0">
              <a:latin typeface="Cambria" panose="02040503050406030204" pitchFamily="18" charset="0"/>
              <a:ea typeface="Cambria" panose="02040503050406030204" pitchFamily="18" charset="0"/>
            </a:endParaRPr>
          </a:p>
          <a:p>
            <a:pPr algn="just"/>
            <a:endParaRPr lang="en-GB" sz="1600" b="1" cap="none" dirty="0">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q"/>
            </a:pPr>
            <a:r>
              <a:rPr lang="en-GB" sz="1600" cap="none" dirty="0">
                <a:latin typeface="Cambria" panose="02040503050406030204" pitchFamily="18" charset="0"/>
                <a:ea typeface="Cambria" panose="02040503050406030204" pitchFamily="18" charset="0"/>
              </a:rPr>
              <a:t>Working part-time as a student generally has a negative impact on overall academic performance, though good time management can mitigate this.</a:t>
            </a:r>
          </a:p>
          <a:p>
            <a:pPr marL="342900" indent="-342900" algn="just">
              <a:buFont typeface="Wingdings" panose="05000000000000000000" pitchFamily="2" charset="2"/>
              <a:buChar char="q"/>
            </a:pPr>
            <a:r>
              <a:rPr lang="en-GB" sz="1600" cap="none" dirty="0">
                <a:latin typeface="Cambria" panose="02040503050406030204" pitchFamily="18" charset="0"/>
                <a:ea typeface="Cambria" panose="02040503050406030204" pitchFamily="18" charset="0"/>
              </a:rPr>
              <a:t>Regular class attendance is crucial to achieving academic success</a:t>
            </a:r>
            <a:endParaRPr lang="en-NG" sz="1600" cap="none" dirty="0">
              <a:latin typeface="Cambria" panose="02040503050406030204" pitchFamily="18" charset="0"/>
              <a:ea typeface="Cambria" panose="02040503050406030204" pitchFamily="18" charset="0"/>
            </a:endParaRPr>
          </a:p>
        </p:txBody>
      </p:sp>
      <p:sp>
        <p:nvSpPr>
          <p:cNvPr id="6" name="Text Placeholder 5">
            <a:extLst>
              <a:ext uri="{FF2B5EF4-FFF2-40B4-BE49-F238E27FC236}">
                <a16:creationId xmlns:a16="http://schemas.microsoft.com/office/drawing/2014/main" id="{019F5031-3454-5B9E-4637-19C248022F0E}"/>
              </a:ext>
            </a:extLst>
          </p:cNvPr>
          <p:cNvSpPr>
            <a:spLocks noGrp="1"/>
          </p:cNvSpPr>
          <p:nvPr>
            <p:ph type="body" sz="half" idx="16"/>
          </p:nvPr>
        </p:nvSpPr>
        <p:spPr>
          <a:xfrm>
            <a:off x="4212750" y="758157"/>
            <a:ext cx="3852986" cy="5462762"/>
          </a:xfrm>
        </p:spPr>
        <p:txBody>
          <a:bodyPr>
            <a:normAutofit/>
          </a:bodyPr>
          <a:lstStyle/>
          <a:p>
            <a:pPr algn="just"/>
            <a:endParaRPr lang="en-GB" sz="1600" b="1" cap="none" dirty="0">
              <a:latin typeface="Cambria" panose="02040503050406030204" pitchFamily="18" charset="0"/>
              <a:ea typeface="Cambria" panose="02040503050406030204" pitchFamily="18" charset="0"/>
            </a:endParaRPr>
          </a:p>
          <a:p>
            <a:pPr algn="just"/>
            <a:endParaRPr lang="en-GB" sz="1600" b="1" cap="none" dirty="0">
              <a:latin typeface="Cambria" panose="02040503050406030204" pitchFamily="18" charset="0"/>
              <a:ea typeface="Cambria" panose="02040503050406030204" pitchFamily="18" charset="0"/>
            </a:endParaRPr>
          </a:p>
          <a:p>
            <a:pPr algn="just"/>
            <a:endParaRPr lang="en-GB" sz="1600" b="1" cap="none" dirty="0">
              <a:latin typeface="Cambria" panose="02040503050406030204" pitchFamily="18" charset="0"/>
              <a:ea typeface="Cambria" panose="02040503050406030204" pitchFamily="18" charset="0"/>
            </a:endParaRPr>
          </a:p>
          <a:p>
            <a:pPr algn="just"/>
            <a:endParaRPr lang="en-GB" sz="1600" b="1" cap="none" dirty="0">
              <a:latin typeface="Cambria" panose="02040503050406030204" pitchFamily="18" charset="0"/>
              <a:ea typeface="Cambria" panose="02040503050406030204" pitchFamily="18" charset="0"/>
            </a:endParaRPr>
          </a:p>
          <a:p>
            <a:pPr algn="just"/>
            <a:endParaRPr lang="en-GB" sz="1600" b="1" cap="none" dirty="0">
              <a:latin typeface="Cambria" panose="02040503050406030204" pitchFamily="18" charset="0"/>
              <a:ea typeface="Cambria" panose="02040503050406030204" pitchFamily="18" charset="0"/>
            </a:endParaRPr>
          </a:p>
          <a:p>
            <a:pPr algn="just"/>
            <a:endParaRPr lang="en-GB" sz="1700" b="1" cap="none" dirty="0">
              <a:latin typeface="Cambria" panose="02040503050406030204" pitchFamily="18" charset="0"/>
              <a:ea typeface="Cambria" panose="020405030504060302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NG" altLang="en-NG"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Increased self-study hours have a strong positive impact on academic performance.</a:t>
            </a:r>
            <a:endParaRPr kumimoji="0" lang="en-US" altLang="en-NG"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NG" altLang="en-NG"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NG" altLang="en-NG"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Students who dedicate more time to independent study tend to achieve higher scores</a:t>
            </a:r>
            <a:r>
              <a:rPr kumimoji="0" lang="en-US" altLang="en-NG"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rPr>
              <a:t>.</a:t>
            </a:r>
            <a:endParaRPr kumimoji="0" lang="en-NG" altLang="en-NG" sz="17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endParaRPr lang="en-NG" sz="1600" cap="none" dirty="0">
              <a:latin typeface="Cambria" panose="02040503050406030204" pitchFamily="18" charset="0"/>
              <a:ea typeface="Cambria" panose="02040503050406030204" pitchFamily="18" charset="0"/>
            </a:endParaRPr>
          </a:p>
        </p:txBody>
      </p:sp>
      <p:sp>
        <p:nvSpPr>
          <p:cNvPr id="8" name="Text Placeholder 7">
            <a:extLst>
              <a:ext uri="{FF2B5EF4-FFF2-40B4-BE49-F238E27FC236}">
                <a16:creationId xmlns:a16="http://schemas.microsoft.com/office/drawing/2014/main" id="{2074FB64-F6D2-EACF-4106-9B70DECEB822}"/>
              </a:ext>
            </a:extLst>
          </p:cNvPr>
          <p:cNvSpPr>
            <a:spLocks noGrp="1"/>
          </p:cNvSpPr>
          <p:nvPr>
            <p:ph type="body" sz="half" idx="17"/>
          </p:nvPr>
        </p:nvSpPr>
        <p:spPr>
          <a:xfrm>
            <a:off x="8213138" y="1219199"/>
            <a:ext cx="3304928" cy="5171791"/>
          </a:xfrm>
        </p:spPr>
        <p:txBody>
          <a:bodyPr/>
          <a:lstStyle/>
          <a:p>
            <a:endParaRPr lang="en-US" dirty="0"/>
          </a:p>
          <a:p>
            <a:endParaRPr lang="en-US" dirty="0"/>
          </a:p>
          <a:p>
            <a:endParaRPr lang="en-US" dirty="0"/>
          </a:p>
          <a:p>
            <a:endParaRPr lang="en-US" dirty="0"/>
          </a:p>
          <a:p>
            <a:pPr algn="just"/>
            <a:endParaRPr lang="en-GB" sz="1600" cap="none" dirty="0">
              <a:latin typeface="Cambria" panose="02040503050406030204" pitchFamily="18" charset="0"/>
              <a:ea typeface="Cambria" panose="02040503050406030204" pitchFamily="18" charset="0"/>
            </a:endParaRPr>
          </a:p>
          <a:p>
            <a:pPr marL="285750" indent="-285750" algn="just">
              <a:buFont typeface="Wingdings" panose="05000000000000000000" pitchFamily="2" charset="2"/>
              <a:buChar char="q"/>
            </a:pPr>
            <a:r>
              <a:rPr lang="en-GB" sz="1600" cap="none" dirty="0">
                <a:latin typeface="Cambria" panose="02040503050406030204" pitchFamily="18" charset="0"/>
                <a:ea typeface="Cambria" panose="02040503050406030204" pitchFamily="18" charset="0"/>
              </a:rPr>
              <a:t>Involvement in extracurricular activities appears to have a positive effect on academic performance, possibly due to improved time management, discipline, and cognitive skills.</a:t>
            </a:r>
            <a:endParaRPr lang="en-NG" sz="1600" cap="none" dirty="0">
              <a:latin typeface="Cambria" panose="02040503050406030204" pitchFamily="18" charset="0"/>
              <a:ea typeface="Cambria" panose="02040503050406030204" pitchFamily="18" charset="0"/>
            </a:endParaRPr>
          </a:p>
        </p:txBody>
      </p:sp>
      <p:pic>
        <p:nvPicPr>
          <p:cNvPr id="14" name="Picture 13">
            <a:extLst>
              <a:ext uri="{FF2B5EF4-FFF2-40B4-BE49-F238E27FC236}">
                <a16:creationId xmlns:a16="http://schemas.microsoft.com/office/drawing/2014/main" id="{4AD10F02-7F0E-78D7-0BD5-07BA9647937B}"/>
              </a:ext>
            </a:extLst>
          </p:cNvPr>
          <p:cNvPicPr>
            <a:picLocks noChangeAspect="1"/>
          </p:cNvPicPr>
          <p:nvPr/>
        </p:nvPicPr>
        <p:blipFill>
          <a:blip r:embed="rId2"/>
          <a:stretch>
            <a:fillRect/>
          </a:stretch>
        </p:blipFill>
        <p:spPr>
          <a:xfrm>
            <a:off x="1274164" y="955628"/>
            <a:ext cx="2482852" cy="1887930"/>
          </a:xfrm>
          <a:prstGeom prst="rect">
            <a:avLst/>
          </a:prstGeom>
        </p:spPr>
      </p:pic>
      <p:pic>
        <p:nvPicPr>
          <p:cNvPr id="17" name="Picture 16">
            <a:extLst>
              <a:ext uri="{FF2B5EF4-FFF2-40B4-BE49-F238E27FC236}">
                <a16:creationId xmlns:a16="http://schemas.microsoft.com/office/drawing/2014/main" id="{B0B4D81C-ED63-9CFE-01C4-DE24DD66AE28}"/>
              </a:ext>
            </a:extLst>
          </p:cNvPr>
          <p:cNvPicPr>
            <a:picLocks noChangeAspect="1"/>
          </p:cNvPicPr>
          <p:nvPr/>
        </p:nvPicPr>
        <p:blipFill>
          <a:blip r:embed="rId3"/>
          <a:stretch>
            <a:fillRect/>
          </a:stretch>
        </p:blipFill>
        <p:spPr>
          <a:xfrm>
            <a:off x="5015023" y="979653"/>
            <a:ext cx="2547188" cy="1887929"/>
          </a:xfrm>
          <a:prstGeom prst="rect">
            <a:avLst/>
          </a:prstGeom>
        </p:spPr>
      </p:pic>
      <p:pic>
        <p:nvPicPr>
          <p:cNvPr id="19" name="Picture 18">
            <a:extLst>
              <a:ext uri="{FF2B5EF4-FFF2-40B4-BE49-F238E27FC236}">
                <a16:creationId xmlns:a16="http://schemas.microsoft.com/office/drawing/2014/main" id="{9F7929D5-55E2-FEB1-F401-A6AEBB3D08A2}"/>
              </a:ext>
            </a:extLst>
          </p:cNvPr>
          <p:cNvPicPr>
            <a:picLocks noChangeAspect="1"/>
          </p:cNvPicPr>
          <p:nvPr/>
        </p:nvPicPr>
        <p:blipFill>
          <a:blip r:embed="rId4"/>
          <a:stretch>
            <a:fillRect/>
          </a:stretch>
        </p:blipFill>
        <p:spPr>
          <a:xfrm>
            <a:off x="8614846" y="938088"/>
            <a:ext cx="2565618" cy="1933845"/>
          </a:xfrm>
          <a:prstGeom prst="rect">
            <a:avLst/>
          </a:prstGeom>
        </p:spPr>
      </p:pic>
    </p:spTree>
    <p:extLst>
      <p:ext uri="{BB962C8B-B14F-4D97-AF65-F5344CB8AC3E}">
        <p14:creationId xmlns:p14="http://schemas.microsoft.com/office/powerpoint/2010/main" val="1557890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E1500-B750-7361-D8DA-EC1399C82CD4}"/>
              </a:ext>
            </a:extLst>
          </p:cNvPr>
          <p:cNvSpPr txBox="1">
            <a:spLocks/>
          </p:cNvSpPr>
          <p:nvPr/>
        </p:nvSpPr>
        <p:spPr>
          <a:xfrm>
            <a:off x="194247" y="261938"/>
            <a:ext cx="10364452" cy="457200"/>
          </a:xfrm>
          <a:prstGeom prst="rect">
            <a:avLst/>
          </a:prstGeom>
        </p:spPr>
        <p:txBody>
          <a:bodyPr>
            <a:normAutofit fontScale="90000" lnSpcReduction="10000"/>
          </a:bodyPr>
          <a:lst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a:lstStyle>
          <a:p>
            <a:r>
              <a:rPr lang="en-US" sz="3200" b="1" cap="none">
                <a:latin typeface="Cambria" panose="02040503050406030204" pitchFamily="18" charset="0"/>
                <a:ea typeface="Cambria" panose="02040503050406030204" pitchFamily="18" charset="0"/>
              </a:rPr>
              <a:t>Recommendations</a:t>
            </a:r>
            <a:endParaRPr lang="en-NG" sz="3200" b="1" cap="none" dirty="0">
              <a:latin typeface="Cambria" panose="02040503050406030204" pitchFamily="18" charset="0"/>
              <a:ea typeface="Cambria" panose="02040503050406030204" pitchFamily="18" charset="0"/>
            </a:endParaRPr>
          </a:p>
        </p:txBody>
      </p:sp>
      <p:sp>
        <p:nvSpPr>
          <p:cNvPr id="12" name="TextBox 11">
            <a:extLst>
              <a:ext uri="{FF2B5EF4-FFF2-40B4-BE49-F238E27FC236}">
                <a16:creationId xmlns:a16="http://schemas.microsoft.com/office/drawing/2014/main" id="{677B8A47-3DE1-2FBA-82F5-75C054E9C576}"/>
              </a:ext>
            </a:extLst>
          </p:cNvPr>
          <p:cNvSpPr txBox="1"/>
          <p:nvPr/>
        </p:nvSpPr>
        <p:spPr>
          <a:xfrm>
            <a:off x="3091099" y="5343390"/>
            <a:ext cx="6954982" cy="461665"/>
          </a:xfrm>
          <a:prstGeom prst="rect">
            <a:avLst/>
          </a:prstGeom>
          <a:noFill/>
        </p:spPr>
        <p:txBody>
          <a:bodyPr wrap="square" rtlCol="0">
            <a:spAutoFit/>
          </a:bodyPr>
          <a:lstStyle/>
          <a:p>
            <a:r>
              <a:rPr lang="en-US" sz="2400" b="1" i="1">
                <a:latin typeface="Cambria" panose="02040503050406030204" pitchFamily="18" charset="0"/>
                <a:ea typeface="Cambria" panose="02040503050406030204" pitchFamily="18" charset="0"/>
              </a:rPr>
              <a:t>THANK YOU FOR YOUR ATTENTION</a:t>
            </a:r>
            <a:endParaRPr lang="en-NG" sz="2400" b="1" i="1" dirty="0">
              <a:latin typeface="Cambria" panose="02040503050406030204" pitchFamily="18" charset="0"/>
              <a:ea typeface="Cambria" panose="02040503050406030204" pitchFamily="18" charset="0"/>
            </a:endParaRPr>
          </a:p>
        </p:txBody>
      </p:sp>
      <p:graphicFrame>
        <p:nvGraphicFramePr>
          <p:cNvPr id="28" name="TextBox 8">
            <a:extLst>
              <a:ext uri="{FF2B5EF4-FFF2-40B4-BE49-F238E27FC236}">
                <a16:creationId xmlns:a16="http://schemas.microsoft.com/office/drawing/2014/main" id="{D21E2EC4-DA4C-1D93-D7EC-40707A8CBC43}"/>
              </a:ext>
            </a:extLst>
          </p:cNvPr>
          <p:cNvGraphicFramePr/>
          <p:nvPr>
            <p:extLst>
              <p:ext uri="{D42A27DB-BD31-4B8C-83A1-F6EECF244321}">
                <p14:modId xmlns:p14="http://schemas.microsoft.com/office/powerpoint/2010/main" val="3570181147"/>
              </p:ext>
            </p:extLst>
          </p:nvPr>
        </p:nvGraphicFramePr>
        <p:xfrm>
          <a:off x="1080655" y="1052945"/>
          <a:ext cx="10058400" cy="30013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64340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2">
                                            <p:txEl>
                                              <p:pRg st="0" end="0"/>
                                            </p:txEl>
                                          </p:spTgt>
                                        </p:tgtEl>
                                        <p:attrNameLst>
                                          <p:attrName>style.visibility</p:attrName>
                                        </p:attrNameLst>
                                      </p:cBhvr>
                                      <p:to>
                                        <p:strVal val="visible"/>
                                      </p:to>
                                    </p:set>
                                    <p:anim calcmode="lin" valueType="num">
                                      <p:cBhvr>
                                        <p:cTn id="7" dur="1000" fill="hold"/>
                                        <p:tgtEl>
                                          <p:spTgt spid="12">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2">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2">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1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C71B277C-C29A-4BA0-A7BA-43502DF21A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2387</TotalTime>
  <Words>584</Words>
  <Application>Microsoft Office PowerPoint</Application>
  <PresentationFormat>Widescreen</PresentationFormat>
  <Paragraphs>55</Paragraphs>
  <Slides>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Aptos</vt:lpstr>
      <vt:lpstr>Arial</vt:lpstr>
      <vt:lpstr>Cambria</vt:lpstr>
      <vt:lpstr>Tw Cen MT</vt:lpstr>
      <vt:lpstr>Wingdings</vt:lpstr>
      <vt:lpstr>Droplet</vt:lpstr>
      <vt:lpstr>A Multi-Factor Data Analysis of Students’ Academic Performance</vt:lpstr>
      <vt:lpstr>Introduction</vt:lpstr>
      <vt:lpstr>Key Insights</vt:lpstr>
      <vt:lpstr>PowerPoint Presentation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Awotunde Adenike</dc:creator>
  <cp:lastModifiedBy>Awotunde Adenike</cp:lastModifiedBy>
  <cp:revision>7</cp:revision>
  <dcterms:created xsi:type="dcterms:W3CDTF">2025-04-02T10:56:00Z</dcterms:created>
  <dcterms:modified xsi:type="dcterms:W3CDTF">2025-04-04T10:08:29Z</dcterms:modified>
</cp:coreProperties>
</file>